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06fe987caa4eb0" /><Relationship Type="http://schemas.openxmlformats.org/officeDocument/2006/relationships/extended-properties" Target="/docProps/app.xml" Id="R9640dec6cec04869" /><Relationship Type="http://schemas.openxmlformats.org/officeDocument/2006/relationships/officeDocument" Target="/ppt/presentation.xml" Id="R06e096a09dc74d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4567e83fbb4395"/>
  </p:sldMasterIdLst>
  <p:notesMasterIdLst>
    <p:notesMasterId xmlns:r="http://schemas.openxmlformats.org/officeDocument/2006/relationships" r:id="Ree13046ed23d472f"/>
  </p:notesMasterIdLst>
  <p:sldIdLst>
    <p:sldId xmlns:r="http://schemas.openxmlformats.org/officeDocument/2006/relationships" id="256" r:id="R0beadd0f007d4ca0"/>
    <p:sldId xmlns:r="http://schemas.openxmlformats.org/officeDocument/2006/relationships" id="257" r:id="R2c8c30a4c8b349fb"/>
    <p:sldId xmlns:r="http://schemas.openxmlformats.org/officeDocument/2006/relationships" id="258" r:id="R6bc21e62181e46d6"/>
    <p:sldId xmlns:r="http://schemas.openxmlformats.org/officeDocument/2006/relationships" id="259" r:id="R9d88cd206c084e62"/>
    <p:sldId xmlns:r="http://schemas.openxmlformats.org/officeDocument/2006/relationships" id="260" r:id="Rc0a718542ad94888"/>
    <p:sldId xmlns:r="http://schemas.openxmlformats.org/officeDocument/2006/relationships" id="261" r:id="R7061f7ec8bba436b"/>
    <p:sldId xmlns:r="http://schemas.openxmlformats.org/officeDocument/2006/relationships" id="262" r:id="Re929e284ccad47c9"/>
    <p:sldId xmlns:r="http://schemas.openxmlformats.org/officeDocument/2006/relationships" id="263" r:id="Rf83c0a2fb2d74001"/>
    <p:sldId xmlns:r="http://schemas.openxmlformats.org/officeDocument/2006/relationships" id="264" r:id="R48423a0c44b64614"/>
    <p:sldId xmlns:r="http://schemas.openxmlformats.org/officeDocument/2006/relationships" id="265" r:id="R6cb74c7c34014f33"/>
    <p:sldId xmlns:r="http://schemas.openxmlformats.org/officeDocument/2006/relationships" id="266" r:id="R56aa707f42824202"/>
    <p:sldId xmlns:r="http://schemas.openxmlformats.org/officeDocument/2006/relationships" id="267" r:id="Ra1e22c00eb9241aa"/>
    <p:sldId xmlns:r="http://schemas.openxmlformats.org/officeDocument/2006/relationships" id="268" r:id="Rbd5e64063aef476c"/>
    <p:sldId xmlns:r="http://schemas.openxmlformats.org/officeDocument/2006/relationships" id="269" r:id="R6e23a3fa38764e04"/>
    <p:sldId xmlns:r="http://schemas.openxmlformats.org/officeDocument/2006/relationships" id="270" r:id="R449c4a6729144658"/>
    <p:sldId xmlns:r="http://schemas.openxmlformats.org/officeDocument/2006/relationships" id="271" r:id="R702f54b8219946c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ef01db1d1f40ea" /><Relationship Type="http://schemas.openxmlformats.org/officeDocument/2006/relationships/slideMaster" Target="/ppt/slideMasters/slideMaster1.xml" Id="R744567e83fbb4395" /><Relationship Type="http://schemas.openxmlformats.org/officeDocument/2006/relationships/notesMaster" Target="/ppt/notesMasters/notesMaster1.xml" Id="Ree13046ed23d472f" /><Relationship Type="http://schemas.openxmlformats.org/officeDocument/2006/relationships/presProps" Target="/ppt/presProps.xml" Id="Rbd7a86d815804c8d" /><Relationship Type="http://schemas.openxmlformats.org/officeDocument/2006/relationships/tableStyles" Target="/ppt/tableStyles.xml" Id="R513f464c2be24f66" /><Relationship Type="http://schemas.openxmlformats.org/officeDocument/2006/relationships/slide" Target="/ppt/slides/slide1.xml" Id="R0beadd0f007d4ca0" /><Relationship Type="http://schemas.openxmlformats.org/officeDocument/2006/relationships/slide" Target="/ppt/slides/slide2.xml" Id="R2c8c30a4c8b349fb" /><Relationship Type="http://schemas.openxmlformats.org/officeDocument/2006/relationships/slide" Target="/ppt/slides/slide3.xml" Id="R6bc21e62181e46d6" /><Relationship Type="http://schemas.openxmlformats.org/officeDocument/2006/relationships/slide" Target="/ppt/slides/slide4.xml" Id="R9d88cd206c084e62" /><Relationship Type="http://schemas.openxmlformats.org/officeDocument/2006/relationships/slide" Target="/ppt/slides/slide5.xml" Id="Rc0a718542ad94888" /><Relationship Type="http://schemas.openxmlformats.org/officeDocument/2006/relationships/slide" Target="/ppt/slides/slide6.xml" Id="R7061f7ec8bba436b" /><Relationship Type="http://schemas.openxmlformats.org/officeDocument/2006/relationships/slide" Target="/ppt/slides/slide7.xml" Id="Re929e284ccad47c9" /><Relationship Type="http://schemas.openxmlformats.org/officeDocument/2006/relationships/slide" Target="/ppt/slides/slide8.xml" Id="Rf83c0a2fb2d74001" /><Relationship Type="http://schemas.openxmlformats.org/officeDocument/2006/relationships/slide" Target="/ppt/slides/slide9.xml" Id="R48423a0c44b64614" /><Relationship Type="http://schemas.openxmlformats.org/officeDocument/2006/relationships/slide" Target="/ppt/slides/slide10.xml" Id="R6cb74c7c34014f33" /><Relationship Type="http://schemas.openxmlformats.org/officeDocument/2006/relationships/slide" Target="/ppt/slides/slide11.xml" Id="R56aa707f42824202" /><Relationship Type="http://schemas.openxmlformats.org/officeDocument/2006/relationships/slide" Target="/ppt/slides/slide12.xml" Id="Ra1e22c00eb9241aa" /><Relationship Type="http://schemas.openxmlformats.org/officeDocument/2006/relationships/slide" Target="/ppt/slides/slide13.xml" Id="Rbd5e64063aef476c" /><Relationship Type="http://schemas.openxmlformats.org/officeDocument/2006/relationships/slide" Target="/ppt/slides/slide14.xml" Id="R6e23a3fa38764e04" /><Relationship Type="http://schemas.openxmlformats.org/officeDocument/2006/relationships/slide" Target="/ppt/slides/slide15.xml" Id="R449c4a6729144658" /><Relationship Type="http://schemas.openxmlformats.org/officeDocument/2006/relationships/slide" Target="/ppt/slides/slide16.xml" Id="R702f54b8219946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9deca9b0914d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c56e42df804d6b" /><Relationship Type="http://schemas.openxmlformats.org/officeDocument/2006/relationships/notesMaster" Target="/ppt/notesMasters/notesMaster1.xml" Id="R4ec37560bf8a48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77d9cca0b2453f" /><Relationship Type="http://schemas.openxmlformats.org/officeDocument/2006/relationships/notesMaster" Target="/ppt/notesMasters/notesMaster1.xml" Id="R6bb5ac83d61a45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b31d460d3d24cb2" /><Relationship Type="http://schemas.openxmlformats.org/officeDocument/2006/relationships/notesMaster" Target="/ppt/notesMasters/notesMaster1.xml" Id="R145ccea6d2bc4e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90749d12f5497d" /><Relationship Type="http://schemas.openxmlformats.org/officeDocument/2006/relationships/notesMaster" Target="/ppt/notesMasters/notesMaster1.xml" Id="R42cc92eac672498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7646cdad054754" /><Relationship Type="http://schemas.openxmlformats.org/officeDocument/2006/relationships/notesMaster" Target="/ppt/notesMasters/notesMaster1.xml" Id="R7d36402843044c0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d022b9aeaa04847" /><Relationship Type="http://schemas.openxmlformats.org/officeDocument/2006/relationships/notesMaster" Target="/ppt/notesMasters/notesMaster1.xml" Id="R541eefaa051b4d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53d1bc1e92a4f55" /><Relationship Type="http://schemas.openxmlformats.org/officeDocument/2006/relationships/notesMaster" Target="/ppt/notesMasters/notesMaster1.xml" Id="Ra40ae2b32702451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fbd7578a924421c" /><Relationship Type="http://schemas.openxmlformats.org/officeDocument/2006/relationships/notesMaster" Target="/ppt/notesMasters/notesMaster1.xml" Id="R4965dd5ba86e4c9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887a67fe87743af" /><Relationship Type="http://schemas.openxmlformats.org/officeDocument/2006/relationships/notesMaster" Target="/ppt/notesMasters/notesMaster1.xml" Id="R32060c92e5cc428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824f5601aea48c3" /><Relationship Type="http://schemas.openxmlformats.org/officeDocument/2006/relationships/notesMaster" Target="/ppt/notesMasters/notesMaster1.xml" Id="R1b525b59725842e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95726a56a3b467b" /><Relationship Type="http://schemas.openxmlformats.org/officeDocument/2006/relationships/notesMaster" Target="/ppt/notesMasters/notesMaster1.xml" Id="R9459fc075ef44ea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62fe0e44a88433b" /><Relationship Type="http://schemas.openxmlformats.org/officeDocument/2006/relationships/notesMaster" Target="/ppt/notesMasters/notesMaster1.xml" Id="R5743c34e19ff494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e3630c8a6554a75" /><Relationship Type="http://schemas.openxmlformats.org/officeDocument/2006/relationships/notesMaster" Target="/ppt/notesMasters/notesMaster1.xml" Id="R13d3d636ad76428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56482e5fada4199" /><Relationship Type="http://schemas.openxmlformats.org/officeDocument/2006/relationships/notesMaster" Target="/ppt/notesMasters/notesMaster1.xml" Id="R7454c5b4482d482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c220193fac24486" /><Relationship Type="http://schemas.openxmlformats.org/officeDocument/2006/relationships/notesMaster" Target="/ppt/notesMasters/notesMaster1.xml" Id="Rd1e31064333242a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01bfa4c5d2442be" /><Relationship Type="http://schemas.openxmlformats.org/officeDocument/2006/relationships/notesMaster" Target="/ppt/notesMasters/notesMaster1.xml" Id="Rf1c0be32494149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這份簡報是血癌 project 的 GSE262271 單細胞模組交接版。所有結果以 association 解讀，不宣稱 mitochondrial STAT5 的直接因果作用。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用四個層次交代研究動機。最重要的是不要把 GSEA 的 pathway-level 顯著直接寫成單一基因顯著或直接因果。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這張要特別講清楚 paired design。GSEA 使用的 rank 來自 paired edgeR model，pair 並不是 fgsea 自動辨識的。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主分析只使用 top 25%。Top 50%、全 candidate T-lineage、cycling 和 quiescent subsets 只出現在 sensitivity figures。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先回答 abundance 問題。P1 的增加很大，但另外兩位病人下降，因此 group-level paired test 不顯著。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 inferCNV heatmap 是軟體輸出，保留作方法 QC。文章主敘事仍應以 operational burden definition 描述，不要說成確定的 DNA CNV。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最重要的精確數字：KEGG mitophagy NES 1.44, FDR 0.0998。Proteasome NES 1.53, FDR 0.109，不能寫成過 0.10。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 BP 與 KEGG 的 gene-set definitions 不同。KEGG mitophagy 接近 0.10，不代表 GO mitophagy 也應顯著。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這張直接處理先前最容易誤讀的地方。Heatmap 是 sample pattern，不能把 pathway FDR 貼到單一 gene 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Mitophagy leading edge 中 14 genes 是 3/3 上升，16 genes 是 2/3 上升，只有 1 gene 是 2/3 下降。這支持 pathway direction，但樣本數仍只有三對。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不要把 STAT5A nominal P 當成 corrected significance。更不能把 cross-dataset concordance 寫成 STAT5 已經在這個 patient dataset 被證明活化。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Bulk dataset 是 STAT5B N642H model，不是同一病人 cohort。共同 pathway direction 支持 association，但 DNA replication 的反向結果提醒我們背景差異很大。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同方向 overlap 的 threshold 是探索性 FDR &lt; 0.10。要避免把 pathways 數量當成獨立證據，因為 KEGG gene sets 之間有大量基因重疊。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這張提供 paper discussion 可用的核心句子。用 coordinated program、exploratory enrichment、near-threshold trend，避免 activation、dependency、resistance 等過度因果字眼。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交接給學員時，先讓她知道哪些問題可用 transcriptomics 回答，哪些一定要做 functional validation。Priority 是 localization、flux、dependency。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GitHub 版本只放 code、final figures、compact CSV、README 與 PPT。Raw data 與大型 RDS 保留在本機，避免 repo 膨脹與資料授權問題。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cd719e828144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9fcacfbbca4197" /><Relationship Type="http://schemas.openxmlformats.org/officeDocument/2006/relationships/slideLayout" Target="/ppt/slideLayouts/slideLayout1.xml" Id="Raa9e2a6e7ad544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9e2a6e7ad544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2b75a6a9bc4e9a" /><Relationship Type="http://schemas.openxmlformats.org/officeDocument/2006/relationships/notesSlide" Target="/ppt/notesSlides/notesSlide1.xml" Id="R1063d4c1e5e34d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7df1b2eff14b1a" /><Relationship Type="http://schemas.openxmlformats.org/officeDocument/2006/relationships/notesSlide" Target="/ppt/notesSlides/notesSlide2.xml" Id="Rfe2790d87f8243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d015b0e5d545b9" /><Relationship Type="http://schemas.openxmlformats.org/officeDocument/2006/relationships/notesSlide" Target="/ppt/notesSlides/notesSlide3.xml" Id="R77c3ddabe48e43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f13a45502f4e7a" /><Relationship Type="http://schemas.openxmlformats.org/officeDocument/2006/relationships/image" Target="/ppt/media/image.png" Id="Rdc4e5a6ac3de4326" /><Relationship Type="http://schemas.openxmlformats.org/officeDocument/2006/relationships/notesSlide" Target="/ppt/notesSlides/notesSlide4.xml" Id="Rf7b458f8a25141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b07c8aa284657" /><Relationship Type="http://schemas.openxmlformats.org/officeDocument/2006/relationships/image" Target="/ppt/media/image2.png" Id="R3a4b9ec71b404638" /><Relationship Type="http://schemas.openxmlformats.org/officeDocument/2006/relationships/notesSlide" Target="/ppt/notesSlides/notesSlide5.xml" Id="Rba7f898675da46c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b9d470b62144e3" /><Relationship Type="http://schemas.openxmlformats.org/officeDocument/2006/relationships/image" Target="/ppt/media/image3.png" Id="Rdf83cca56bbf45d4" /><Relationship Type="http://schemas.openxmlformats.org/officeDocument/2006/relationships/notesSlide" Target="/ppt/notesSlides/notesSlide6.xml" Id="R13f13ed89afc42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4ddf7d75194d0d" /><Relationship Type="http://schemas.openxmlformats.org/officeDocument/2006/relationships/image" Target="/ppt/media/image4.png" Id="Rd38fd6da66374c9a" /><Relationship Type="http://schemas.openxmlformats.org/officeDocument/2006/relationships/notesSlide" Target="/ppt/notesSlides/notesSlide7.xml" Id="R391c41ca9fb24cb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d061e1db604ac9" /><Relationship Type="http://schemas.openxmlformats.org/officeDocument/2006/relationships/image" Target="/ppt/media/image5.png" Id="Rd909fed456d1473d" /><Relationship Type="http://schemas.openxmlformats.org/officeDocument/2006/relationships/notesSlide" Target="/ppt/notesSlides/notesSlide8.xml" Id="Rb5fe60b4c71b49b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72d5a931d043ee" /><Relationship Type="http://schemas.openxmlformats.org/officeDocument/2006/relationships/image" Target="/ppt/media/image6.png" Id="Rde88a28d1a314e32" /><Relationship Type="http://schemas.openxmlformats.org/officeDocument/2006/relationships/notesSlide" Target="/ppt/notesSlides/notesSlide9.xml" Id="Rc76a6701943b40c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7d5896c18442f4" /><Relationship Type="http://schemas.openxmlformats.org/officeDocument/2006/relationships/notesSlide" Target="/ppt/notesSlides/notesSlide10.xml" Id="R645dffed715244e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577c22bb5e42ff" /><Relationship Type="http://schemas.openxmlformats.org/officeDocument/2006/relationships/image" Target="/ppt/media/image7.png" Id="Rb032a5d903524b6a" /><Relationship Type="http://schemas.openxmlformats.org/officeDocument/2006/relationships/notesSlide" Target="/ppt/notesSlides/notesSlide11.xml" Id="R354c1e66907b4be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1e0277f46c40a9" /><Relationship Type="http://schemas.openxmlformats.org/officeDocument/2006/relationships/image" Target="/ppt/media/image8.png" Id="R8f5cfc0f6a35427e" /><Relationship Type="http://schemas.openxmlformats.org/officeDocument/2006/relationships/notesSlide" Target="/ppt/notesSlides/notesSlide12.xml" Id="Rc6f46f978a814fd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05a7b8322d42a5" /><Relationship Type="http://schemas.openxmlformats.org/officeDocument/2006/relationships/image" Target="/ppt/media/image9.png" Id="Rc12b45baee684760" /><Relationship Type="http://schemas.openxmlformats.org/officeDocument/2006/relationships/notesSlide" Target="/ppt/notesSlides/notesSlide13.xml" Id="R406122209fa84d4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a945e1893f4ebd" /><Relationship Type="http://schemas.openxmlformats.org/officeDocument/2006/relationships/notesSlide" Target="/ppt/notesSlides/notesSlide14.xml" Id="Rc9fc996b1be74a5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61962935384cd3" /><Relationship Type="http://schemas.openxmlformats.org/officeDocument/2006/relationships/notesSlide" Target="/ppt/notesSlides/notesSlide15.xml" Id="Re480a8e8817e4a0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9801a796584cf6" /><Relationship Type="http://schemas.openxmlformats.org/officeDocument/2006/relationships/notesSlide" Target="/ppt/notesSlides/notesSlide16.xml" Id="R27c9f278532c439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1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2C5DCA-1B41-496F-89DB-233EBDD1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92A074-5F9E-4BBB-A538-56EF12D4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69F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E69F00"/>
                </a:solidFill>
                <a:latin typeface="Microsoft JhengHei"/>
                <a:ea typeface="Microsoft JhengHei"/>
                <a:cs typeface="Microsoft JhengHei"/>
              </a:rPr>
              <a:t>HEMATOLOGIC MALIGNANCY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826786-079F-48F2-ABCD-D6651564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9525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T-ALL relapse single-cell transcriptomics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CA0086-71A3-4037-8853-1070A7118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D9E1E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D9E1EA"/>
                </a:solidFill>
                <a:latin typeface="Microsoft JhengHei"/>
                <a:ea typeface="Microsoft JhengHei"/>
                <a:cs typeface="Microsoft JhengHei"/>
              </a:rPr>
              <a:t>GSE262271 paired diagnosis and relapse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C7F516-09E3-4669-ACE4-39D7D490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62300"/>
            <a:ext cx="1028700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391B37-4281-40CC-AA10-714AB4F7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766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69F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E69F00"/>
                </a:solidFill>
                <a:latin typeface="Microsoft JhengHei"/>
                <a:ea typeface="Microsoft JhengHei"/>
                <a:cs typeface="Microsoft JhengHei"/>
              </a:rPr>
              <a:t>研究問題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615C8C-4D58-4465-89D4-3872B8F5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57625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Relapse 的 potential malignant T cells 是否出現與 STAT5、粒線體品質控制及 proteostasis 一致的 pathway-level program？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C65934-BDBB-4540-B868-A3B0F5F2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67375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FC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BFC9D5"/>
                </a:solidFill>
                <a:latin typeface="Microsoft JhengHei"/>
                <a:ea typeface="Microsoft JhengHei"/>
                <a:cs typeface="Microsoft JhengHei"/>
              </a:rPr>
              <a:t>Publication figure audit, reproducible code and lab handoff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0B1307-57B4-43F5-A2B5-EEF72FDB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667375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69F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E69F00"/>
                </a:solidFill>
                <a:latin typeface="Microsoft JhengHei"/>
                <a:ea typeface="Microsoft JhengHei"/>
                <a:cs typeface="Microsoft JhengHei"/>
              </a:rPr>
              <a:t>September 2026</a:t>
            </a:r>
          </a:p>
        </p:txBody>
      </p:sp>
    </p:spTree>
    <p:extLst>
      <p:ext uri="{BB962C8B-B14F-4D97-AF65-F5344CB8AC3E}">
        <p14:creationId xmlns:p14="http://schemas.microsoft.com/office/powerpoint/2010/main" val="6123436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2F27197-64DB-48AD-B431-9F2B7144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157E1C-D2DE-4627-9FA1-BF64ADDA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55E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D55E00"/>
                </a:solidFill>
                <a:latin typeface="Microsoft JhengHei"/>
                <a:ea typeface="Microsoft JhengHei"/>
                <a:cs typeface="Microsoft JhengHei"/>
              </a:rPr>
              <a:t>BIOLOGICAL RATIONALE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0BB78A-5607-429E-9823-AEA3BEBF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1123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為什麼做這個分析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6B8713-62D9-4D62-826E-B78D9EB8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112776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61E004-08A3-420E-84FE-5B5CA9FB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91300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9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9636E"/>
                </a:solidFill>
                <a:latin typeface="Microsoft JhengHei"/>
                <a:ea typeface="Microsoft JhengHei"/>
                <a:cs typeface="Microsoft JhengHei"/>
              </a:rPr>
              <a:t>GSE262271 paired T-ALL relapse analysis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B82882-DFB4-4784-A2CD-0AA4CF50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91300"/>
            <a:ext cx="4381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667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9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1">
                <a:solidFill>
                  <a:srgbClr val="59636E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B35874-F222-44AA-9EF8-0E88351C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55E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D55E00"/>
                </a:solidFill>
                <a:latin typeface="Microsoft JhengHei"/>
                <a:ea typeface="Microsoft JhengHei"/>
                <a:cs typeface="Microsoft JhengHei"/>
              </a:rPr>
              <a:t>工作假說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4E2CCF-EDB0-4062-A383-67437FB4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F1D9E0-7AA1-4858-B8D8-FF3A35B4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240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EB3BD5-98FF-4E80-B303-6CFF164E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097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6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C1D1FB-6EC0-4A47-83B3-42780390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050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STAT5 activity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20B0CB-C667-40BC-A5EF-B73CD511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860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rPr>
              <a:t>構成性訊號可能改變 leukemia cell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B9A5FE-B212-4721-BDF0-80C2A01D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7640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3A86BE-8ACE-416E-817F-C3C20A1C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9240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0677A9-C293-4A32-835E-71648419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0097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6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61791F-7297-47E9-8A81-7BC3ED99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9050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13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Mitochondrial program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93DE5E-4BFD-48D3-8AC6-7C819844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2860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rPr>
              <a:t>OXPHOS、stress response 與 organelle quality control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301595-423E-4D7F-8D7A-110C913F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7640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EE6245-C1E9-40D4-B7A2-357A327E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240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AC5D7B-4903-4A16-A42A-0878EB24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0097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6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B78719-82A3-4C0D-87F4-7A6BD9C2E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9050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27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Mitophagy and proteostasis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467542-BDA2-4EDB-806F-297135F7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860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rPr>
              <a:t>清除受損粒線體，並改變 proteasome demand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E3691E-59E1-4BAA-8320-722B8FD9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67640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629B83-1DEB-4145-9003-393DBFA0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9240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90C3F4-588F-458B-9458-1998B873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0097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6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940618-CF34-4B27-B477-833B0B15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9050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Relapse biology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8AB956-5F02-4974-B826-BE756D4F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2860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rPr>
              <a:t>可能形成適應、依賴或治療抗性表型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7DC97A-232A-4FF7-9764-FD4DE01B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49530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7F7F4"/>
          </a:solidFill>
          <a:ln xmlns:a="http://schemas.openxmlformats.org/drawingml/2006/main" w="9525">
            <a:solidFill>
              <a:srgbClr val="D8DEE5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D4AFC4-1267-4CDB-982A-676FCA88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66675" cy="1476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2B2"/>
          </a:solidFill>
          <a:ln xmlns:a="http://schemas.openxmlformats.org/drawingml/2006/main" w="9525">
            <a:solidFill>
              <a:srgbClr val="0072B2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B3796C-8C06-47FF-9C4F-FB42A322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48100"/>
            <a:ext cx="462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這組資料能回答什麼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0796FB-64BA-4F95-B3AF-E839317D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62425"/>
            <a:ext cx="46291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rPr>
              <a:t>Paired transcriptomic association、pathway direction、跨資料集 concordance。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2F9C5D-FCF5-4108-9B66-5195ED5B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714750"/>
            <a:ext cx="547687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7F7F4"/>
          </a:solidFill>
          <a:ln xmlns:a="http://schemas.openxmlformats.org/drawingml/2006/main" w="9525">
            <a:solidFill>
              <a:srgbClr val="D8DEE5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2F99C5-D0EA-4CD6-9D8E-53451E72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714750"/>
            <a:ext cx="66675" cy="1476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5E00"/>
          </a:solidFill>
          <a:ln xmlns:a="http://schemas.openxmlformats.org/drawingml/2006/main" w="9525">
            <a:solidFill>
              <a:srgbClr val="D55E00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5BA1BF-FBA6-4E0F-BB0B-0B0CBFE7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848100"/>
            <a:ext cx="51530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這組資料不能單獨證明什麼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9B5F5B-A320-43F2-BE4F-2D7893F80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162425"/>
            <a:ext cx="51530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rPr>
              <a:t>STAT5 的粒線體定位、mitophagy flux、proteasome dependency、bortezomib resistance 的直接因果。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9552A55-EED1-41B2-B141-18F4CB080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721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核心原則：先把 pathway-level evidence 與 gene-level evidence 分開，再談機制。</a:t>
            </a:r>
          </a:p>
        </p:txBody>
      </p:sp>
    </p:spTree>
    <p:extLst>
      <p:ext uri="{BB962C8B-B14F-4D97-AF65-F5344CB8AC3E}">
        <p14:creationId xmlns:p14="http://schemas.microsoft.com/office/powerpoint/2010/main" val="14771825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8B081A-3C0F-4635-9BE9-7F21442D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85E968-CBB7-4E44-A15D-A336C216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55E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D55E00"/>
                </a:solidFill>
                <a:latin typeface="Microsoft JhengHei"/>
                <a:ea typeface="Microsoft JhengHei"/>
                <a:cs typeface="Microsoft JhengHei"/>
              </a:rPr>
              <a:t>STUDY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AB6570-07FD-4B06-866E-20A938A0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1123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配對設計是整個統計分析的關鍵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6F71C5-6D68-4837-9B34-AEF426446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112776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92E6DD-624D-4072-A596-4FDD8881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91300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9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9636E"/>
                </a:solidFill>
                <a:latin typeface="Microsoft JhengHei"/>
                <a:ea typeface="Microsoft JhengHei"/>
                <a:cs typeface="Microsoft JhengHei"/>
              </a:rPr>
              <a:t>GSE262271 paired T-ALL relapse analysis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E02225-BABC-4570-BFA1-FB06C437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91300"/>
            <a:ext cx="4381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667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9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1">
                <a:solidFill>
                  <a:srgbClr val="59636E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graphicFrame>
        <p:nvGraphicFramePr>
          <p:cNvPr id="27" name=""/>
          <p:cNvGraphicFramePr/>
          <p:nvPr/>
        </p:nvGraphicFramePr>
        <p:xfrm>
          <a:off xmlns:a="http://schemas.openxmlformats.org/drawingml/2006/main" x="514350" y="1257300"/>
          <a:ext xmlns:a="http://schemas.openxmlformats.org/drawingml/2006/main" cx="6572250" cy="2476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143000"/>
                <a:gridCol w="1666875"/>
                <a:gridCol w="1666875"/>
                <a:gridCol w="2095500"/>
              </a:tblGrid>
              <a:tr h="6191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Patient</a:t>
                      </a:r>
                    </a:p>
                  </a:txBody>
                  <a:tcPr marL="91440" marR="91440" marT="45720" marB="4572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Diagnosis</a:t>
                      </a:r>
                    </a:p>
                  </a:txBody>
                  <a:tcPr marL="91440" marR="91440" marT="45720" marB="4572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Relapse</a:t>
                      </a:r>
                    </a:p>
                  </a:txBody>
                  <a:tcPr marL="91440" marR="91440" marT="45720" marB="4572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Dx / Rel primary cells</a:t>
                      </a:r>
                    </a:p>
                  </a:txBody>
                  <a:tcPr marL="91440" marR="91440" marT="45720" marB="45720">
                    <a:solidFill>
                      <a:srgbClr val="14213D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42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42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M104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42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M127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42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140 / 971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42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42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M143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42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M148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42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712 / 269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42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42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M187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42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M187r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42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456 / 659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D8302F-ED42-44FA-92D1-391D76EE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257300"/>
            <a:ext cx="4000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7F7F4"/>
          </a:solidFill>
          <a:ln xmlns:a="http://schemas.openxmlformats.org/drawingml/2006/main" w="9525">
            <a:solidFill>
              <a:srgbClr val="D8DE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A45E71-005D-4D9B-A7B2-A11D5815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257300"/>
            <a:ext cx="66675" cy="1047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2B2"/>
          </a:solidFill>
          <a:ln xmlns:a="http://schemas.openxmlformats.org/drawingml/2006/main" w="9525">
            <a:solidFill>
              <a:srgbClr val="0072B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369D25-B364-43CF-BAFE-85A78BE0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390650"/>
            <a:ext cx="3676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Biological replicate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04A0B2-41A9-4C1C-8B4B-0F8E8402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04975"/>
            <a:ext cx="3676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rPr>
              <a:t>病人才是 biological replicate，cell 不是獨立 replicate。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5ED5B5-64F9-4D44-B17A-88F48F0E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05075"/>
            <a:ext cx="4000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7F7F4"/>
          </a:solidFill>
          <a:ln xmlns:a="http://schemas.openxmlformats.org/drawingml/2006/main" w="9525">
            <a:solidFill>
              <a:srgbClr val="D8DEE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1A7FBA-D9D0-4F02-8DC9-F98164F0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05075"/>
            <a:ext cx="66675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5E00"/>
          </a:solidFill>
          <a:ln xmlns:a="http://schemas.openxmlformats.org/drawingml/2006/main" w="9525">
            <a:solidFill>
              <a:srgbClr val="D55E0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8AE005-FD59-4174-BA1F-4CA2D3F0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38425"/>
            <a:ext cx="3676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Paired pseudobulk model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3A1238-F118-455B-A87E-64EC8FAA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52750"/>
            <a:ext cx="3676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rPr>
              <a:t>每個 sample 先聚合 counts，再以 edgeR design ~ patient_pair + condition 比較 relapse 與 diagnosis。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6BB8E8-6E1A-4E20-A3AE-AB3A4677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33850"/>
            <a:ext cx="4000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7F7F4"/>
          </a:solidFill>
          <a:ln xmlns:a="http://schemas.openxmlformats.org/drawingml/2006/main" w="9525">
            <a:solidFill>
              <a:srgbClr val="D8DEE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46EF30-D74D-41D8-8653-3CE00696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33850"/>
            <a:ext cx="66675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E73"/>
          </a:solidFill>
          <a:ln xmlns:a="http://schemas.openxmlformats.org/drawingml/2006/main" w="9525">
            <a:solidFill>
              <a:srgbClr val="009E7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B520A0-3242-450F-BAD5-ACC73154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67200"/>
            <a:ext cx="3676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GSEA ranking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A7EA35-29F0-466B-9EA8-D4AEB02F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81525"/>
            <a:ext cx="3676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rPr>
              <a:t>Genome-wide rank = sign(logFC) × sqrt(F)。配對資訊已經在上游 model 中，不是 GSEA 演算法自己判斷 pair。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CFBF05-8553-4384-9F9C-CB0642AF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38625"/>
            <a:ext cx="657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218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B2182B"/>
                </a:solidFill>
                <a:latin typeface="Microsoft JhengHei"/>
                <a:ea typeface="Microsoft JhengHei"/>
                <a:cs typeface="Microsoft JhengHei"/>
              </a:rPr>
              <a:t>N = 3 pairs，統計力有限，因此跨病人方向一致性與獨立資料集驗證格外重要。</a:t>
            </a:r>
          </a:p>
        </p:txBody>
      </p:sp>
    </p:spTree>
    <p:extLst>
      <p:ext uri="{BB962C8B-B14F-4D97-AF65-F5344CB8AC3E}">
        <p14:creationId xmlns:p14="http://schemas.microsoft.com/office/powerpoint/2010/main" val="7937719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573B2C-F709-4827-A4F1-C664B093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8D0E89-2F63-4AF6-846A-25D9AD118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55E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D55E00"/>
                </a:solidFill>
                <a:latin typeface="Microsoft JhengHei"/>
                <a:ea typeface="Microsoft JhengHei"/>
                <a:cs typeface="Microsoft JhengHei"/>
              </a:rPr>
              <a:t>CELL DEFINITION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65A03A-9245-40E6-A37A-C3C167A8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1123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Primary population 只保留 CNV-high top 25%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E2FE54-46D4-42E1-9AC1-DE7EACC9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112776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1372B9-D660-4E19-952D-90E363D5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91300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9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9636E"/>
                </a:solidFill>
                <a:latin typeface="Microsoft JhengHei"/>
                <a:ea typeface="Microsoft JhengHei"/>
                <a:cs typeface="Microsoft JhengHei"/>
              </a:rPr>
              <a:t>GSE262271 paired T-ALL relapse analysis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F7175F-131E-4899-86C7-A36894D7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91300"/>
            <a:ext cx="4381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667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9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1">
                <a:solidFill>
                  <a:srgbClr val="59636E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4e5a6ac3de4326"/>
          <a:stretch xmlns:a="http://schemas.openxmlformats.org/drawingml/2006/main"/>
        </p:blipFill>
        <p:spPr>
          <a:xfrm xmlns:a="http://schemas.openxmlformats.org/drawingml/2006/main">
            <a:off x="558595" y="990600"/>
            <a:ext cx="7226710" cy="5334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FAA826-1723-486B-9457-BDF2B0A5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285875"/>
            <a:ext cx="3429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7F7F4"/>
          </a:solidFill>
          <a:ln xmlns:a="http://schemas.openxmlformats.org/drawingml/2006/main" w="9525">
            <a:solidFill>
              <a:srgbClr val="D8DE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56617E-AA01-4D45-981F-FE0D2ABA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285875"/>
            <a:ext cx="66675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5E00"/>
          </a:solidFill>
          <a:ln xmlns:a="http://schemas.openxmlformats.org/drawingml/2006/main" w="9525">
            <a:solidFill>
              <a:srgbClr val="D55E0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9762B3-3F70-463C-BABC-63D87895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19225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Operational definition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B50BBE-B861-4253-8C49-9FD2457D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33550"/>
            <a:ext cx="3105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rPr>
              <a:t>Candidate malignant T-lineage cells 中，inferCNV burden 最高的 top 25%。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03485E-4272-4154-BF64-8A0B3914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24150"/>
            <a:ext cx="34290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7F7F4"/>
          </a:solidFill>
          <a:ln xmlns:a="http://schemas.openxmlformats.org/drawingml/2006/main" w="9525">
            <a:solidFill>
              <a:srgbClr val="D8DEE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74B051-518C-4997-8BE5-89733D93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24150"/>
            <a:ext cx="66675" cy="1571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2B2"/>
          </a:solidFill>
          <a:ln xmlns:a="http://schemas.openxmlformats.org/drawingml/2006/main" w="9525">
            <a:solidFill>
              <a:srgbClr val="0072B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AFE39B-9DD7-458E-B4D4-E640045C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57500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Primary analysis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4A0989-FE54-402C-B495-A31985D8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71825"/>
            <a:ext cx="31051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rPr>
              <a:t>後續 paired pseudobulk DEG、KEGG、GO BP、STAT5 與 hypothesis-focused analyses 都使用這 3,207 顆細胞。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4E39BB-86B3-4D10-9F1B-94FEE984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52950"/>
            <a:ext cx="3429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7F7F4"/>
          </a:solidFill>
          <a:ln xmlns:a="http://schemas.openxmlformats.org/drawingml/2006/main" w="9525">
            <a:solidFill>
              <a:srgbClr val="D8DEE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0B2F79-509F-43CB-9ED6-3F1D2FC5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52950"/>
            <a:ext cx="66675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2182B"/>
          </a:solidFill>
          <a:ln xmlns:a="http://schemas.openxmlformats.org/drawingml/2006/main" w="9525">
            <a:solidFill>
              <a:srgbClr val="B2182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AE0306-195A-42EC-A9ED-DEC10335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86300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Interpretation boundary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FC3813-FDD0-4027-A543-F272513D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00625"/>
            <a:ext cx="3105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rPr>
              <a:t>這是 enriched malignant-like population，不等同臨床上已驗證的 malignant cell call。</a:t>
            </a:r>
          </a:p>
        </p:txBody>
      </p:sp>
    </p:spTree>
    <p:extLst>
      <p:ext uri="{BB962C8B-B14F-4D97-AF65-F5344CB8AC3E}">
        <p14:creationId xmlns:p14="http://schemas.microsoft.com/office/powerpoint/2010/main" val="19284915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626DEF-5151-4462-967C-7DB9527A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DC9D2B-BE78-467D-87D9-1606C1C6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55E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D55E00"/>
                </a:solidFill>
                <a:latin typeface="Microsoft JhengHei"/>
                <a:ea typeface="Microsoft JhengHei"/>
                <a:cs typeface="Microsoft JhengHei"/>
              </a:rPr>
              <a:t>CELL ABUNDANCE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CD12C9-A37C-4F0D-BB48-65F26769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1123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Relapse 並沒有一致增加 potential malignant T-cell proportion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65ABE2-0EDA-4255-A6C2-9248FE6A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112776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A0FD96-5B64-4311-B8AD-26AE25D5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91300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9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9636E"/>
                </a:solidFill>
                <a:latin typeface="Microsoft JhengHei"/>
                <a:ea typeface="Microsoft JhengHei"/>
                <a:cs typeface="Microsoft JhengHei"/>
              </a:rPr>
              <a:t>GSE262271 paired T-ALL relapse analysis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4BDBCE-7987-49AA-B935-50612110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91300"/>
            <a:ext cx="4381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667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9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1">
                <a:solidFill>
                  <a:srgbClr val="59636E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4b9ec71b404638"/>
          <a:stretch xmlns:a="http://schemas.openxmlformats.org/drawingml/2006/main"/>
        </p:blipFill>
        <p:spPr>
          <a:xfrm xmlns:a="http://schemas.openxmlformats.org/drawingml/2006/main">
            <a:off x="361950" y="1322532"/>
            <a:ext cx="11468100" cy="4517736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7C7ADF-371E-458F-A17F-9548392C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81700"/>
            <a:ext cx="1066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結論：P1 上升，P2 與 P3 下降。Exact paired Wilcoxon P = 0.75，因此不能宣稱 relapse 的 malignant-like fraction 普遍變多。</a:t>
            </a:r>
          </a:p>
        </p:txBody>
      </p:sp>
    </p:spTree>
    <p:extLst>
      <p:ext uri="{BB962C8B-B14F-4D97-AF65-F5344CB8AC3E}">
        <p14:creationId xmlns:p14="http://schemas.microsoft.com/office/powerpoint/2010/main" val="12026015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1CD604-DA7C-4C0F-A2E6-4E8BF5A4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6583A8-04B7-42A7-8ABF-4F0DD80A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55E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D55E00"/>
                </a:solidFill>
                <a:latin typeface="Microsoft JhengHei"/>
                <a:ea typeface="Microsoft JhengHei"/>
                <a:cs typeface="Microsoft JhengHei"/>
              </a:rPr>
              <a:t>CELL DEFINITION QC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092D0D-C6B6-4AFE-A2B4-2341449E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1123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inferCNV 提供的是 relative CNV burden，不是最終腫瘤診斷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A7845F-5107-4312-9BCE-28AFB636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112776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6AB155-1267-47BB-83B3-D2D37F88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91300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9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9636E"/>
                </a:solidFill>
                <a:latin typeface="Microsoft JhengHei"/>
                <a:ea typeface="Microsoft JhengHei"/>
                <a:cs typeface="Microsoft JhengHei"/>
              </a:rPr>
              <a:t>GSE262271 paired T-ALL relapse analysis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C2CD8D-E125-4E7C-9BC5-EEA1EA03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91300"/>
            <a:ext cx="4381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667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9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1">
                <a:solidFill>
                  <a:srgbClr val="59636E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83cca56bbf45d4"/>
          <a:stretch xmlns:a="http://schemas.openxmlformats.org/drawingml/2006/main"/>
        </p:blipFill>
        <p:spPr>
          <a:xfrm xmlns:a="http://schemas.openxmlformats.org/drawingml/2006/main">
            <a:off x="1966309" y="1028700"/>
            <a:ext cx="5497132" cy="5191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ADA0AD-E4B4-42DD-8F11-24725D3C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381125"/>
            <a:ext cx="2571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7F7F4"/>
          </a:solidFill>
          <a:ln xmlns:a="http://schemas.openxmlformats.org/drawingml/2006/main" w="9525">
            <a:solidFill>
              <a:srgbClr val="D8DE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4F2948-169C-4C2D-AF0B-661A74BC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381125"/>
            <a:ext cx="66675" cy="1123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2B2"/>
          </a:solidFill>
          <a:ln xmlns:a="http://schemas.openxmlformats.org/drawingml/2006/main" w="9525">
            <a:solidFill>
              <a:srgbClr val="0072B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8A556F-D306-4999-85DC-E35321A9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514475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Reference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E4CB96-3ED0-4479-BAB5-8F7EC364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2880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39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rPr>
              <a:t>B cell、myeloid、erythroid、pDC 等 non-T populations。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821455-1C9D-4036-A42E-511B12E9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14625"/>
            <a:ext cx="2571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7F7F4"/>
          </a:solidFill>
          <a:ln xmlns:a="http://schemas.openxmlformats.org/drawingml/2006/main" w="9525">
            <a:solidFill>
              <a:srgbClr val="D8DEE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404DDC-6ED2-4586-9CD3-545FD74B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14625"/>
            <a:ext cx="66675" cy="1352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5E00"/>
          </a:solidFill>
          <a:ln xmlns:a="http://schemas.openxmlformats.org/drawingml/2006/main" w="9525">
            <a:solidFill>
              <a:srgbClr val="D55E0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CA1598-B2A8-4BDC-BAB6-0668EFE7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47975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Observation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694FB3-3813-4F5B-B48B-5C54D78F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62300"/>
            <a:ext cx="2247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271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rPr>
              <a:t>Candidate T-lineage cells 呈現相對較強的 chromosome-scale expression deviations。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C6D302-BC52-431B-82AE-1BFAB709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86250"/>
            <a:ext cx="25717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7F7F4"/>
          </a:solidFill>
          <a:ln xmlns:a="http://schemas.openxmlformats.org/drawingml/2006/main" w="9525">
            <a:solidFill>
              <a:srgbClr val="D8DEE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8F7D40-4272-4309-B7AE-4A3F4782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86250"/>
            <a:ext cx="66675" cy="1295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E73"/>
          </a:solidFill>
          <a:ln xmlns:a="http://schemas.openxmlformats.org/drawingml/2006/main" w="9525">
            <a:solidFill>
              <a:srgbClr val="009E7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C19C27-4EB4-45FC-AAC8-C7AF3024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41960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Selection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A70A07-14DD-473E-93C1-ED8C4EAD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733925"/>
            <a:ext cx="2247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rPr>
              <a:t>以 cell-level burden score 的 75th percentile 定義 top 25% primary population。</a:t>
            </a:r>
          </a:p>
        </p:txBody>
      </p:sp>
    </p:spTree>
    <p:extLst>
      <p:ext uri="{BB962C8B-B14F-4D97-AF65-F5344CB8AC3E}">
        <p14:creationId xmlns:p14="http://schemas.microsoft.com/office/powerpoint/2010/main" val="1508307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C6A649-E49C-4973-91B6-B8823A7B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B92063-FB01-4E27-BD1B-1F32FF9B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55E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D55E00"/>
                </a:solidFill>
                <a:latin typeface="Microsoft JhengHei"/>
                <a:ea typeface="Microsoft JhengHei"/>
                <a:cs typeface="Microsoft JhengHei"/>
              </a:rPr>
              <a:t>KEGG GSEA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0A9A55-EDA6-435C-84D8-9116A217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1123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Relapse 的主訊號是 biosynthesis、replication 與 oxidative program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E64439-CDF9-4B33-B889-1E05BE68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112776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CA19BD-9486-4440-8944-D24B62F3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91300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9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9636E"/>
                </a:solidFill>
                <a:latin typeface="Microsoft JhengHei"/>
                <a:ea typeface="Microsoft JhengHei"/>
                <a:cs typeface="Microsoft JhengHei"/>
              </a:rPr>
              <a:t>GSE262271 paired T-ALL relapse analysis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CA0773-E964-4CD4-B969-6D74D7DF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91300"/>
            <a:ext cx="4381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667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9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1">
                <a:solidFill>
                  <a:srgbClr val="59636E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8fd6da66374c9a"/>
          <a:stretch xmlns:a="http://schemas.openxmlformats.org/drawingml/2006/main"/>
        </p:blipFill>
        <p:spPr>
          <a:xfrm xmlns:a="http://schemas.openxmlformats.org/drawingml/2006/main">
            <a:off x="650081" y="990600"/>
            <a:ext cx="8072438" cy="53816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E8EDE3-F907-4427-90F9-66305AF86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200150"/>
            <a:ext cx="26860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7F7F4"/>
          </a:solidFill>
          <a:ln xmlns:a="http://schemas.openxmlformats.org/drawingml/2006/main" w="9525">
            <a:solidFill>
              <a:srgbClr val="D8DE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AA0197-A67B-430B-AFDB-91C0B3DC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200150"/>
            <a:ext cx="66675" cy="1476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5E00"/>
          </a:solidFill>
          <a:ln xmlns:a="http://schemas.openxmlformats.org/drawingml/2006/main" w="9525">
            <a:solidFill>
              <a:srgbClr val="D55E0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D05BEB-ACDE-44AA-BA11-B316E28FB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333500"/>
            <a:ext cx="2362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FDR &lt; 0.05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174286-A49E-4241-8ECF-290C53E8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647825"/>
            <a:ext cx="2362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rPr>
              <a:t>Ribosome biogenesis、OXPHOS、DNA replication、ribosome、spliceosome。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2E371C-B6C9-41F1-8F84-D9CD3924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76550"/>
            <a:ext cx="26860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7F7F4"/>
          </a:solidFill>
          <a:ln xmlns:a="http://schemas.openxmlformats.org/drawingml/2006/main" w="9525">
            <a:solidFill>
              <a:srgbClr val="D8DEE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5CA053-61E8-415E-8478-1BF7C0F68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76550"/>
            <a:ext cx="66675" cy="1666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2B2"/>
          </a:solidFill>
          <a:ln xmlns:a="http://schemas.openxmlformats.org/drawingml/2006/main" w="9525">
            <a:solidFill>
              <a:srgbClr val="0072B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02AAAF-FC76-482D-B3F8-411F6948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09900"/>
            <a:ext cx="2362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Exploratory FDR &lt; 0.10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1DDEB2-2C74-4209-92C8-8CA2CE8D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24225"/>
            <a:ext cx="23622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rPr>
              <a:t>Alanine, aspartate and glutamate metabolism、JAK-STAT、HIF-1、mitophagy。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CE8E0B-6CEF-40C0-9318-77858A93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752975"/>
            <a:ext cx="26860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7F7F4"/>
          </a:solidFill>
          <a:ln xmlns:a="http://schemas.openxmlformats.org/drawingml/2006/main" w="9525">
            <a:solidFill>
              <a:srgbClr val="D8DEE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A56E98-232F-4100-ACA1-216417F5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752975"/>
            <a:ext cx="66675" cy="1381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2182B"/>
          </a:solidFill>
          <a:ln xmlns:a="http://schemas.openxmlformats.org/drawingml/2006/main" w="9525">
            <a:solidFill>
              <a:srgbClr val="B2182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FD7D60-31A7-4F44-8D2F-66C7B0CB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886325"/>
            <a:ext cx="2362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Not significant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076D03-1571-4B10-976C-5F9D72E9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200650"/>
            <a:ext cx="23622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17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rPr>
              <a:t>Proteasome q = 0.109，sphingolipid signaling q = 0.359，general autophagy q = 0.754。</a:t>
            </a:r>
          </a:p>
        </p:txBody>
      </p:sp>
    </p:spTree>
    <p:extLst>
      <p:ext uri="{BB962C8B-B14F-4D97-AF65-F5344CB8AC3E}">
        <p14:creationId xmlns:p14="http://schemas.microsoft.com/office/powerpoint/2010/main" val="4006145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F42435-F18B-4142-B401-11823B05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12D23E-E92B-46FA-B9A1-AF89D3F2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55E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D55E00"/>
                </a:solidFill>
                <a:latin typeface="Microsoft JhengHei"/>
                <a:ea typeface="Microsoft JhengHei"/>
                <a:cs typeface="Microsoft JhengHei"/>
              </a:rPr>
              <a:t>GO BP GSEA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17CD9A-F7E5-4E5D-9FC5-1C5DC19B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1123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GO BP 支持 translation 與 mitochondrial respiration，但不支持 broad autophagy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D12B71-B752-42AB-AEA6-B8E5074F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112776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A740ED-856F-4D00-A0B2-58873CC8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91300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9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9636E"/>
                </a:solidFill>
                <a:latin typeface="Microsoft JhengHei"/>
                <a:ea typeface="Microsoft JhengHei"/>
                <a:cs typeface="Microsoft JhengHei"/>
              </a:rPr>
              <a:t>GSE262271 paired T-ALL relapse analysis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039708-B6E8-4987-97B4-71BEAB712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91300"/>
            <a:ext cx="4381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667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9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1">
                <a:solidFill>
                  <a:srgbClr val="59636E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09fed456d1473d"/>
          <a:stretch xmlns:a="http://schemas.openxmlformats.org/drawingml/2006/main"/>
        </p:blipFill>
        <p:spPr>
          <a:xfrm xmlns:a="http://schemas.openxmlformats.org/drawingml/2006/main">
            <a:off x="759786" y="981075"/>
            <a:ext cx="8291177" cy="54006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170A5F-C272-4AFD-9027-DF4C6E22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428750"/>
            <a:ext cx="22860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7F7F4"/>
          </a:solidFill>
          <a:ln xmlns:a="http://schemas.openxmlformats.org/drawingml/2006/main" w="9525">
            <a:solidFill>
              <a:srgbClr val="D8DE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B0C943-33AA-4013-9B5B-25C117F4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428750"/>
            <a:ext cx="66675" cy="1952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5E00"/>
          </a:solidFill>
          <a:ln xmlns:a="http://schemas.openxmlformats.org/drawingml/2006/main" w="9525">
            <a:solidFill>
              <a:srgbClr val="D55E0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1887FD-D7F7-4BE5-8162-E1A5F6D1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562100"/>
            <a:ext cx="196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一致的正向訊號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4EE2E1-640D-4458-ACFB-28D6210A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876425"/>
            <a:ext cx="19621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rPr>
              <a:t>Ribonucleoprotein biogenesis</a:t>
            </a:r>
          </a:p>
          <a:p xmlns:a="http://schemas.openxmlformats.org/drawingml/2006/main">
            <a:pPr>
              <a:def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rPr>
              <a:t>Cytoplasmic translation</a:t>
            </a:r>
          </a:p>
          <a:p xmlns:a="http://schemas.openxmlformats.org/drawingml/2006/main">
            <a:pPr>
              <a:def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rPr>
              <a:t>Electron transport</a:t>
            </a:r>
          </a:p>
          <a:p xmlns:a="http://schemas.openxmlformats.org/drawingml/2006/main">
            <a:pPr>
              <a:def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rPr>
              <a:t>DNA replication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3A2F35-32C5-4CE3-9F9D-92150C6A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714750"/>
            <a:ext cx="22860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7F7F4"/>
          </a:solidFill>
          <a:ln xmlns:a="http://schemas.openxmlformats.org/drawingml/2006/main" w="9525">
            <a:solidFill>
              <a:srgbClr val="D8DEE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6C31F4-EABB-4520-87B2-C0F55AA7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714750"/>
            <a:ext cx="66675" cy="1571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2B2"/>
          </a:solidFill>
          <a:ln xmlns:a="http://schemas.openxmlformats.org/drawingml/2006/main" w="9525">
            <a:solidFill>
              <a:srgbClr val="0072B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6E7708-B634-47FD-8D76-9B6289CB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848100"/>
            <a:ext cx="196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重要負結果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480372-2152-4F49-B677-3A26042A9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162425"/>
            <a:ext cx="19621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375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rPr>
              <a:t>GO mitophagy</a:t>
            </a:r>
          </a:p>
          <a:p xmlns:a="http://schemas.openxmlformats.org/drawingml/2006/main">
            <a:pPr>
              <a:def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rPr>
              <a:t>Autophagy</a:t>
            </a:r>
          </a:p>
          <a:p xmlns:a="http://schemas.openxmlformats.org/drawingml/2006/main">
            <a:pPr>
              <a:def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rPr>
              <a:t>Proteasomal protein catabolism</a:t>
            </a:r>
          </a:p>
          <a:p xmlns:a="http://schemas.openxmlformats.org/drawingml/2006/main">
            <a:pPr>
              <a:def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rPr>
              <a:t>皆未達 FDR threshold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C41355-13F3-4E24-BA40-5257F534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476875"/>
            <a:ext cx="2238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9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9636E"/>
                </a:solidFill>
                <a:latin typeface="Microsoft JhengHei"/>
                <a:ea typeface="Microsoft JhengHei"/>
                <a:cs typeface="Microsoft JhengHei"/>
              </a:rPr>
              <a:t>完整 4,746 個 tested GO terms 保留在 CSV，main figure 只呈現非冗餘且與研究問題直接相關的 terms。</a:t>
            </a:r>
          </a:p>
        </p:txBody>
      </p:sp>
    </p:spTree>
    <p:extLst>
      <p:ext uri="{BB962C8B-B14F-4D97-AF65-F5344CB8AC3E}">
        <p14:creationId xmlns:p14="http://schemas.microsoft.com/office/powerpoint/2010/main" val="229258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FE66B6-6A3C-4146-88F0-9F0A386D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2F4087-B24B-456E-9A04-C62F6036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55E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D55E00"/>
                </a:solidFill>
                <a:latin typeface="Microsoft JhengHei"/>
                <a:ea typeface="Microsoft JhengHei"/>
                <a:cs typeface="Microsoft JhengHei"/>
              </a:rPr>
              <a:t>HYPOTHESIS FOCUS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53CFBA-89E4-45A9-9F72-C2B85210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1123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38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Mitophagy 是 pathway-level exploratory signal，proteasome 是 near-threshold trend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08351E-256D-4894-A15E-30AC81EF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112776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F2B860-C545-4E09-9D44-42DC2FD6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91300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9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9636E"/>
                </a:solidFill>
                <a:latin typeface="Microsoft JhengHei"/>
                <a:ea typeface="Microsoft JhengHei"/>
                <a:cs typeface="Microsoft JhengHei"/>
              </a:rPr>
              <a:t>GSE262271 paired T-ALL relapse analysis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795DC9-49F5-4A7C-965C-A18F6B71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91300"/>
            <a:ext cx="4381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667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9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1">
                <a:solidFill>
                  <a:srgbClr val="59636E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88a28d1a314e32"/>
          <a:stretch xmlns:a="http://schemas.openxmlformats.org/drawingml/2006/main"/>
        </p:blipFill>
        <p:spPr>
          <a:xfrm xmlns:a="http://schemas.openxmlformats.org/drawingml/2006/main">
            <a:off x="1747960" y="981075"/>
            <a:ext cx="8753231" cy="533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8806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C00447-DF6F-46BD-9C76-EC485388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D36B95-FEAC-4815-9D00-FD6EE2FC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55E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D55E00"/>
                </a:solidFill>
                <a:latin typeface="Microsoft JhengHei"/>
                <a:ea typeface="Microsoft JhengHei"/>
                <a:cs typeface="Microsoft JhengHei"/>
              </a:rPr>
              <a:t>PAIRED CONSISTENCY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68786C-744A-4930-AE91-8A361C34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1123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三位病人的方向一致性支持 mitophagy 訊號，但證據仍屬探索性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9AB69A-E946-472A-91DA-6362BE5E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112776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DA89E9-4585-4783-9EAC-55465F3E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91300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9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9636E"/>
                </a:solidFill>
                <a:latin typeface="Microsoft JhengHei"/>
                <a:ea typeface="Microsoft JhengHei"/>
                <a:cs typeface="Microsoft JhengHei"/>
              </a:rPr>
              <a:t>GSE262271 paired T-ALL relapse analysis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334148-B390-4FF9-A639-79713994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91300"/>
            <a:ext cx="4381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667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9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1">
                <a:solidFill>
                  <a:srgbClr val="59636E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514350" y="1381125"/>
          <a:ext xmlns:a="http://schemas.openxmlformats.org/drawingml/2006/main" cx="11144250" cy="2857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143125"/>
                <a:gridCol w="1333500"/>
                <a:gridCol w="1524000"/>
                <a:gridCol w="1524000"/>
                <a:gridCol w="1428750"/>
                <a:gridCol w="3190875"/>
              </a:tblGrid>
              <a:tr h="7143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Pathway</a:t>
                      </a:r>
                    </a:p>
                  </a:txBody>
                  <a:tcPr marL="91440" marR="91440" marT="45720" marB="4572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NES</a:t>
                      </a:r>
                    </a:p>
                  </a:txBody>
                  <a:tcPr marL="91440" marR="91440" marT="45720" marB="4572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FDR</a:t>
                      </a:r>
                    </a:p>
                  </a:txBody>
                  <a:tcPr marL="91440" marR="91440" marT="45720" marB="4572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 of 3</a:t>
                      </a:r>
                    </a:p>
                  </a:txBody>
                  <a:tcPr marL="91440" marR="91440" marT="45720" marB="4572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 of 3</a:t>
                      </a:r>
                    </a:p>
                  </a:txBody>
                  <a:tcPr marL="91440" marR="91440" marT="45720" marB="4572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Interpretation</a:t>
                      </a:r>
                    </a:p>
                  </a:txBody>
                  <a:tcPr marL="91440" marR="91440" marT="45720" marB="45720">
                    <a:solidFill>
                      <a:srgbClr val="14213D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42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KEGG Mitophagy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42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1.44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42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0.0998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42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14 genes up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42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16 genes up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42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30 of 31 leading-edge genes were up in at least 2 pairs</a:t>
                      </a:r>
                    </a:p>
                  </a:txBody>
                  <a:tcPr marL="91440" marR="91440" marT="45720" marB="45720"/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42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KEGG Autophagy animal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42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-0.93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42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0.754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42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16 genes down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42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24 genes down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42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Direction is mostly down, but pathway is not significant</a:t>
                      </a:r>
                    </a:p>
                  </a:txBody>
                  <a:tcPr marL="91440" marR="91440" marT="45720" marB="45720"/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42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KEGG Autophagy other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42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-1.34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42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0.299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42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 genes down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42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 genes down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42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Direction is mostly down, but pathway is not significant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DBA4E8-2B95-4F94-94D8-E0F6E788F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14875"/>
            <a:ext cx="10191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7F7F4"/>
          </a:solidFill>
          <a:ln xmlns:a="http://schemas.openxmlformats.org/drawingml/2006/main" w="9525">
            <a:solidFill>
              <a:srgbClr val="D8DE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D68484-15A2-49C7-83F3-6E79AF42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14875"/>
            <a:ext cx="66675" cy="1190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2B2"/>
          </a:solidFill>
          <a:ln xmlns:a="http://schemas.openxmlformats.org/drawingml/2006/main" w="9525">
            <a:solidFill>
              <a:srgbClr val="0072B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25833D-52AD-467B-8247-308331F4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48225"/>
            <a:ext cx="986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統計邏輯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01D55D-351B-4121-B76E-4B87358A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162550"/>
            <a:ext cx="9867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rPr>
              <a:t>基因不需要全部 3 of 3 同方向才能進入 model。Paired model 估計平均 within-patient effect，方向一致性是可信度審查，不是額外硬門檻。</a:t>
            </a:r>
          </a:p>
        </p:txBody>
      </p:sp>
    </p:spTree>
    <p:extLst>
      <p:ext uri="{BB962C8B-B14F-4D97-AF65-F5344CB8AC3E}">
        <p14:creationId xmlns:p14="http://schemas.microsoft.com/office/powerpoint/2010/main" val="2642601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F1F747-CA54-4879-B157-8B089467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89C7E8-C0D3-4BB8-87A3-CA7001A2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55E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D55E00"/>
                </a:solidFill>
                <a:latin typeface="Microsoft JhengHei"/>
                <a:ea typeface="Microsoft JhengHei"/>
                <a:cs typeface="Microsoft JhengHei"/>
              </a:rPr>
              <a:t>STAT5 READOUT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5E8EBA-00AC-41A2-BCD7-034DDAB7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1123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828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STAT5A nominally increases, but STAT5 downstream gene sets are not significant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9587C9-E3E0-4341-94D4-D1B5FEDB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112776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E45C82-B1F0-4D52-AE07-070255E4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91300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9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9636E"/>
                </a:solidFill>
                <a:latin typeface="Microsoft JhengHei"/>
                <a:ea typeface="Microsoft JhengHei"/>
                <a:cs typeface="Microsoft JhengHei"/>
              </a:rPr>
              <a:t>GSE262271 paired T-ALL relapse analysis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A0A739-9141-4102-8622-20CD2FBC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91300"/>
            <a:ext cx="4381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667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9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1">
                <a:solidFill>
                  <a:srgbClr val="59636E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32a5d903524b6a"/>
          <a:stretch xmlns:a="http://schemas.openxmlformats.org/drawingml/2006/main"/>
        </p:blipFill>
        <p:spPr>
          <a:xfrm xmlns:a="http://schemas.openxmlformats.org/drawingml/2006/main">
            <a:off x="1368098" y="1000125"/>
            <a:ext cx="9484379" cy="52863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0A2073-3FF0-41D2-8046-654BE591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626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解讀：STAT5A log2FC +1.32，nominal P = 0.0173，但 gene-level FDR = 1.00。三個 custom STAT5 downstream sets 的 FDR 都是 0.458。</a:t>
            </a:r>
          </a:p>
        </p:txBody>
      </p:sp>
    </p:spTree>
    <p:extLst>
      <p:ext uri="{BB962C8B-B14F-4D97-AF65-F5344CB8AC3E}">
        <p14:creationId xmlns:p14="http://schemas.microsoft.com/office/powerpoint/2010/main" val="15946649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6E7946-D289-4FFB-BD4F-63FC92C0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2434F8-2F18-4086-8F13-0F1C7F45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55E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D55E00"/>
                </a:solidFill>
                <a:latin typeface="Microsoft JhengHei"/>
                <a:ea typeface="Microsoft JhengHei"/>
                <a:cs typeface="Microsoft JhengHei"/>
              </a:rPr>
              <a:t>CROSS-DATASET 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BED618-D34D-4B5D-B40A-373F71B3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1123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STAT5B N642H bulk RNA-seq 提供部分同方向 validation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96B721-1350-4FE4-B441-1BA208D5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112776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F3F1CE-9D02-464F-9114-26CB46F6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91300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9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9636E"/>
                </a:solidFill>
                <a:latin typeface="Microsoft JhengHei"/>
                <a:ea typeface="Microsoft JhengHei"/>
                <a:cs typeface="Microsoft JhengHei"/>
              </a:rPr>
              <a:t>GSE262271 paired T-ALL relapse analysis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0739E7-9C85-49E1-964F-12B98402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91300"/>
            <a:ext cx="4381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667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9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1">
                <a:solidFill>
                  <a:srgbClr val="59636E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5cfc0f6a35427e"/>
          <a:stretch xmlns:a="http://schemas.openxmlformats.org/drawingml/2006/main"/>
        </p:blipFill>
        <p:spPr>
          <a:xfrm xmlns:a="http://schemas.openxmlformats.org/drawingml/2006/main">
            <a:off x="1025899" y="971550"/>
            <a:ext cx="10197353" cy="533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82865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071F59-395C-42A2-8CA8-734862F2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D61505-AE0A-4EFD-A75B-A6E82275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55E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D55E00"/>
                </a:solidFill>
                <a:latin typeface="Microsoft JhengHei"/>
                <a:ea typeface="Microsoft JhengHei"/>
                <a:cs typeface="Microsoft JhengHei"/>
              </a:rPr>
              <a:t>CROSS-DATASET OVERLAP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BCD89D-8A75-4552-8375-0B300B9A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1123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FDR &lt; 0.10 時，共有 28 個同方向上升 KEGG pathways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62824F-0D2C-4DAB-813B-D62C5CDC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112776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BFF301-0292-4934-85A9-4709317B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91300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9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9636E"/>
                </a:solidFill>
                <a:latin typeface="Microsoft JhengHei"/>
                <a:ea typeface="Microsoft JhengHei"/>
                <a:cs typeface="Microsoft JhengHei"/>
              </a:rPr>
              <a:t>GSE262271 paired T-ALL relapse analysis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6B79EB-D2BF-45BA-BACD-04B68A6E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91300"/>
            <a:ext cx="4381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667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9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1">
                <a:solidFill>
                  <a:srgbClr val="59636E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2b45baee684760"/>
          <a:stretch xmlns:a="http://schemas.openxmlformats.org/drawingml/2006/main"/>
        </p:blipFill>
        <p:spPr>
          <a:xfrm xmlns:a="http://schemas.openxmlformats.org/drawingml/2006/main">
            <a:off x="891674" y="1047750"/>
            <a:ext cx="10370553" cy="50958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9A6448-E12B-4EE3-AB2D-B2B567C4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24550"/>
            <a:ext cx="1047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7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Up overlap = 28，down overlap = 0。這個結果描述 pathway set 的交集，不代表 28 條路徑都與 mitochondrial STAT5 有直接因果關係。</a:t>
            </a:r>
          </a:p>
        </p:txBody>
      </p:sp>
    </p:spTree>
    <p:extLst>
      <p:ext uri="{BB962C8B-B14F-4D97-AF65-F5344CB8AC3E}">
        <p14:creationId xmlns:p14="http://schemas.microsoft.com/office/powerpoint/2010/main" val="152309052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EC1589-D89F-4F6E-9C5F-E42B0E13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A5D1A1-C29D-4392-8173-42EDB748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55E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D55E00"/>
                </a:solidFill>
                <a:latin typeface="Microsoft JhengHei"/>
                <a:ea typeface="Microsoft JhengHei"/>
                <a:cs typeface="Microsoft JhengHei"/>
              </a:rPr>
              <a:t>INTERPRETATION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47BF39-4B90-4164-B854-A501D633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1123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目前資料最合理的生物學解讀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10507C-5356-427C-A822-BE2EB02B3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112776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6FED31-3260-4412-B1AE-9B3265CF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91300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9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9636E"/>
                </a:solidFill>
                <a:latin typeface="Microsoft JhengHei"/>
                <a:ea typeface="Microsoft JhengHei"/>
                <a:cs typeface="Microsoft JhengHei"/>
              </a:rPr>
              <a:t>GSE262271 paired T-ALL relapse analysis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1F7362-4D2C-418A-9803-4F085EA9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91300"/>
            <a:ext cx="4381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667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9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1">
                <a:solidFill>
                  <a:srgbClr val="59636E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96E925-2BA1-43AD-BA46-24152196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827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Relapse-associated leukemia 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9C29BC-EB73-45A8-9E0F-B1E43EB14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9525">
            <a:solidFill>
              <a:srgbClr val="D55E0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F5684A-58B5-4FE3-BE43-DD59D649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383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Biosynthetic demand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44FA14-1175-4B86-BC43-8FDD29C6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4312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rPr>
              <a:t>Ribosome、ribosome biogenesis、spliceosome 上升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9EFAC3-C3BC-412A-B8CA-FAC34009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9525">
            <a:solidFill>
              <a:srgbClr val="0072B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A479C4-3D03-4ED0-B4AA-0688F590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24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Replication program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E91321-3DEC-4A38-8217-FD26716F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289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rPr>
              <a:t>DNA replication 上升，可能反映 proliferative state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39CBBF-D7E5-4B06-9F84-56969BDE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7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E73"/>
          </a:solidFill>
          <a:ln xmlns:a="http://schemas.openxmlformats.org/drawingml/2006/main" w="9525">
            <a:solidFill>
              <a:srgbClr val="009E7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7A8D71-FC66-4E0C-AF76-A45059E2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099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Mitochondrial respiration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AA4AFB-0F79-4E45-89DD-4B0C5220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1477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rPr>
              <a:t>OXPHOS 與 electron transport 穩定上升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823493-3725-4B5E-9749-A5A1D67D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434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9F00"/>
          </a:solidFill>
          <a:ln xmlns:a="http://schemas.openxmlformats.org/drawingml/2006/main" w="9525">
            <a:solidFill>
              <a:srgbClr val="E69F0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0EF9BB-0EC2-46F0-9CA0-D83D36F3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95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Quality-control adaptation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D6378E-AE64-44E9-9136-C2E1F009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006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rPr>
              <a:t>KEGG mitophagy 接近 FDR 0.10，proteasome 接近但未過門檻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F80057-2454-4705-91B0-044D5F7C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81125"/>
            <a:ext cx="47625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7F7F4"/>
          </a:solidFill>
          <a:ln xmlns:a="http://schemas.openxmlformats.org/drawingml/2006/main" w="9525">
            <a:solidFill>
              <a:srgbClr val="D8DEE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28686E-B94A-4597-A425-8DAC3549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81125"/>
            <a:ext cx="66675" cy="1952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5E00"/>
          </a:solidFill>
          <a:ln xmlns:a="http://schemas.openxmlformats.org/drawingml/2006/main" w="9525">
            <a:solidFill>
              <a:srgbClr val="D55E0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A3448E-EC9E-4876-ACBB-E2816B2D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514475"/>
            <a:ext cx="443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最保守、也最可發表的說法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A5A2E0-4AEF-47F6-A210-674BD9E1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28800"/>
            <a:ext cx="44386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rPr>
              <a:t>Relapse-associated potential malignant T cells show a coordinated oxidative and biosynthetic transcriptional program with exploratory mitophagy enrichment and a near-threshold proteasome trend.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6CB13A-6CA8-45B6-B556-90B76BA1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38550"/>
            <a:ext cx="47625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7F7F4"/>
          </a:solidFill>
          <a:ln xmlns:a="http://schemas.openxmlformats.org/drawingml/2006/main" w="9525">
            <a:solidFill>
              <a:srgbClr val="D8DEE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91977C-B18B-4C21-A020-3202C6DB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38550"/>
            <a:ext cx="66675" cy="1476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2B2"/>
          </a:solidFill>
          <a:ln xmlns:a="http://schemas.openxmlformats.org/drawingml/2006/main" w="9525">
            <a:solidFill>
              <a:srgbClr val="0072B2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D39E15-46C1-4B7E-83CA-6BBAF8DA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71900"/>
            <a:ext cx="443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機制假說仍可保留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1A9D67-7E9A-48A9-A295-03D5AAAE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86225"/>
            <a:ext cx="44386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rPr>
              <a:t>STAT5 activation 可能與 mitochondrial quality control 及 proteostasis program 相連，但目前只能作為 mechanistic hypothesis。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1BFB8F-B23E-41AE-89C5-7EF1A712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14950"/>
            <a:ext cx="47625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7F7F4"/>
          </a:solidFill>
          <a:ln xmlns:a="http://schemas.openxmlformats.org/drawingml/2006/main" w="9525">
            <a:solidFill>
              <a:srgbClr val="D8DEE5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D78CFB-F5D5-4103-AFEB-682160DD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14950"/>
            <a:ext cx="66675" cy="904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2182B"/>
          </a:solidFill>
          <a:ln xmlns:a="http://schemas.openxmlformats.org/drawingml/2006/main" w="9525">
            <a:solidFill>
              <a:srgbClr val="B2182B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C0B56E-3154-44EB-8D28-4EECDD0F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448300"/>
            <a:ext cx="443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不能直接寫的結論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F83C00-918B-4B08-B4C8-BA2E119E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762625"/>
            <a:ext cx="4438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146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rPr>
              <a:t>Mitochondrial STAT5 activates mitophagy, causes bortezomib resistance, or creates proteasome addiction。</a:t>
            </a:r>
          </a:p>
        </p:txBody>
      </p:sp>
    </p:spTree>
    <p:extLst>
      <p:ext uri="{BB962C8B-B14F-4D97-AF65-F5344CB8AC3E}">
        <p14:creationId xmlns:p14="http://schemas.microsoft.com/office/powerpoint/2010/main" val="159659400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29086C-78DA-4725-9947-25D8E559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849A2F-E88C-4D80-A1BF-3B47FB8F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55E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D55E00"/>
                </a:solidFill>
                <a:latin typeface="Microsoft JhengHei"/>
                <a:ea typeface="Microsoft JhengHei"/>
                <a:cs typeface="Microsoft JhengHei"/>
              </a:rPr>
              <a:t>VALIDATION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6E4FD5-0E81-48DA-B8CC-0AEC7A49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1123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下一步實驗要把 association 分解成 localization、flux、dependency 與 resistance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49AB32-2E2D-454E-96FE-FB42FF4C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112776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217508-AECD-4EE9-AB26-065B5F52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91300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9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9636E"/>
                </a:solidFill>
                <a:latin typeface="Microsoft JhengHei"/>
                <a:ea typeface="Microsoft JhengHei"/>
                <a:cs typeface="Microsoft JhengHei"/>
              </a:rPr>
              <a:t>GSE262271 paired T-ALL relapse analysis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8D5988-BE7B-43B0-B45A-CAEF7C7F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91300"/>
            <a:ext cx="4381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667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9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1">
                <a:solidFill>
                  <a:srgbClr val="59636E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E8EF83-1BF9-4741-86C6-8AD08C4F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2D059F-043C-4769-8E43-02BE8598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239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559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EF7689-1B1F-44EB-B751-D171F40B6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219200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31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Localization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875297-E12C-4E20-9A49-EC32226D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219200"/>
            <a:ext cx="390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rPr>
              <a:t>Mitochondrial fractionation 或 imaging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C22265-08B4-4E26-B4E3-6BBC32CB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219200"/>
            <a:ext cx="352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9636E"/>
                </a:solidFill>
                <a:latin typeface="Microsoft JhengHei"/>
                <a:ea typeface="Microsoft JhengHei"/>
                <a:cs typeface="Microsoft JhengHei"/>
              </a:rPr>
              <a:t>STAT5 是否進入粒線體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054963-771A-4176-BEE0-4814E4FA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85950"/>
            <a:ext cx="10144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4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66685E-F117-4AC5-8C2A-41B5A373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812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721885-462B-41AE-9103-6B33E7C1D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559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7B6C11-826A-431F-8F3E-F52F0A47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62175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31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Mitophagy flux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00C96D-A297-418E-8B06-CC49A9CE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162175"/>
            <a:ext cx="390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rPr>
              <a:t>mt-Keima、MitoTracker turnover、lysosomal blockade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2414E6-447D-4176-B52D-16C88785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162175"/>
            <a:ext cx="352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9636E"/>
                </a:solidFill>
                <a:latin typeface="Microsoft JhengHei"/>
                <a:ea typeface="Microsoft JhengHei"/>
                <a:cs typeface="Microsoft JhengHei"/>
              </a:rPr>
              <a:t>不是只看 transcript，而是直接測 flux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578FD5-FA77-4904-898A-A27F5AFE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28925"/>
            <a:ext cx="10144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4E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626864-DC36-45BD-A82F-EB742B5A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24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6D37CB-F579-44AD-B860-F803B2AB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099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559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FD3656-A835-4EA2-8446-932EAE05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05150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31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Perturbation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0326FA-9183-4516-9025-AC0BFDA4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105150"/>
            <a:ext cx="390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rPr>
              <a:t>STAT5 inhibition 或 N642H induction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4A1332-02EB-496C-9247-B2C972F0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05150"/>
            <a:ext cx="352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9636E"/>
                </a:solidFill>
                <a:latin typeface="Microsoft JhengHei"/>
                <a:ea typeface="Microsoft JhengHei"/>
                <a:cs typeface="Microsoft JhengHei"/>
              </a:rPr>
              <a:t>STAT5 是否改變 mitophagy 與 OXPHOS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434D7C-846E-4E55-BB09-F3EE93FA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71900"/>
            <a:ext cx="10144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4E8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D9979F-EE8D-47C1-AA69-C7B1AE53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671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AC6A1A-69DD-48F8-AF73-0AC6182E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529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559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80AD1D-14CD-4E31-961D-DEC3E2D0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48125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31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Proteasome dependency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F9028A-FAF0-4243-BDD9-AB17EF5A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048125"/>
            <a:ext cx="390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rPr>
              <a:t>Bortezomib dose response、activity probe、UPR markers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06EF51-C9D4-4F36-8173-8CB7A334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48125"/>
            <a:ext cx="352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9636E"/>
                </a:solidFill>
                <a:latin typeface="Microsoft JhengHei"/>
                <a:ea typeface="Microsoft JhengHei"/>
                <a:cs typeface="Microsoft JhengHei"/>
              </a:rPr>
              <a:t>上升是適應、依賴，還是 resistance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CC2BC7-5594-4C71-BA84-0A5C91C8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14875"/>
            <a:ext cx="10144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4E8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49F4D5-FD02-48E3-9834-61DA3322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101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0C4683-45BB-4F16-8518-EE37A3CE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958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559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C3C4BC-5F36-41C3-BB02-E424B745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91100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31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Combination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5D2E48-67DE-4C02-BEB8-45A66B51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991100"/>
            <a:ext cx="390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rPr>
              <a:t>STAT5 plus mitophagy or proteasome perturbation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F9C6E75-F89E-46A0-82EF-56AE3365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991100"/>
            <a:ext cx="352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9636E"/>
                </a:solidFill>
                <a:latin typeface="Microsoft JhengHei"/>
                <a:ea typeface="Microsoft JhengHei"/>
                <a:cs typeface="Microsoft JhengHei"/>
              </a:rPr>
              <a:t>是否有 selective vulnerability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8B5F62-3F3D-4FDB-8C35-0196B02E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57850"/>
            <a:ext cx="10144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4E8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CE1CE72-9620-4C39-A809-CDBCBDCC8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115050"/>
            <a:ext cx="914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218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B2182B"/>
                </a:solidFill>
                <a:latin typeface="Microsoft JhengHei"/>
                <a:ea typeface="Microsoft JhengHei"/>
                <a:cs typeface="Microsoft JhengHei"/>
              </a:rPr>
              <a:t>優先順序建議：先證明 STAT5 localization 與 mitophagy flux，再測 bortezomib dependency。</a:t>
            </a:r>
          </a:p>
        </p:txBody>
      </p:sp>
    </p:spTree>
    <p:extLst>
      <p:ext uri="{BB962C8B-B14F-4D97-AF65-F5344CB8AC3E}">
        <p14:creationId xmlns:p14="http://schemas.microsoft.com/office/powerpoint/2010/main" val="195500259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F5D4DF-41D6-4639-B52D-BBCAE04B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B9FCFA-6F61-4049-8912-31C50A81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55E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D55E00"/>
                </a:solidFill>
                <a:latin typeface="Microsoft JhengHei"/>
                <a:ea typeface="Microsoft JhengHei"/>
                <a:cs typeface="Microsoft JhengHei"/>
              </a:rPr>
              <a:t>REPOSITORY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2AE5F2-CE32-4C84-B108-2B2E9023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1123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交接與 code availability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BBF756-9F87-41EB-995B-5A58601E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112776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3B31FD-A6A5-49D4-B6E4-97E48F38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91300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9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9636E"/>
                </a:solidFill>
                <a:latin typeface="Microsoft JhengHei"/>
                <a:ea typeface="Microsoft JhengHei"/>
                <a:cs typeface="Microsoft JhengHei"/>
              </a:rPr>
              <a:t>GSE262271 paired T-ALL relapse analysis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E7AA75-182B-4A65-A8A7-CFD927CF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91300"/>
            <a:ext cx="4381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667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963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1">
                <a:solidFill>
                  <a:srgbClr val="59636E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graphicFrame>
        <p:nvGraphicFramePr>
          <p:cNvPr id="27" name=""/>
          <p:cNvGraphicFramePr/>
          <p:nvPr/>
        </p:nvGraphicFramePr>
        <p:xfrm>
          <a:off xmlns:a="http://schemas.openxmlformats.org/drawingml/2006/main" x="476250" y="1200150"/>
          <a:ext xmlns:a="http://schemas.openxmlformats.org/drawingml/2006/main" cx="7239000" cy="4000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095500"/>
                <a:gridCol w="2095500"/>
                <a:gridCol w="3048000"/>
              </a:tblGrid>
              <a:tr h="5715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Folder</a:t>
                      </a:r>
                    </a:p>
                  </a:txBody>
                  <a:tcPr marL="91440" marR="91440" marT="45720" marB="4572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User-facing</a:t>
                      </a:r>
                    </a:p>
                  </a:txBody>
                  <a:tcPr marL="91440" marR="91440" marT="45720" marB="4572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Contents</a:t>
                      </a:r>
                    </a:p>
                  </a:txBody>
                  <a:tcPr marL="91440" marR="91440" marT="45720" marB="45720">
                    <a:solidFill>
                      <a:srgbClr val="14213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42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01_Figures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42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Yes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42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 main, 5 supplementary, 3 sensitivity figures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42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02_Tables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42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Yes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42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Key results, full results, sensitivity, method inputs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42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03_Raw_Data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42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Local only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42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GEO archive and source metadata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42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04_R_Objects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42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Local only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42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Final Seurat and inferCNV objects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42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05_Code_Availability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42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Yes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42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Scripts 01 to 16, wrappers, environment records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42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06_Handoff_PPT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42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Yes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42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This reviewed handoff deck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3C03E3-F7CE-4B54-912B-027AA6D5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238250"/>
            <a:ext cx="3429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7F7F4"/>
          </a:solidFill>
          <a:ln xmlns:a="http://schemas.openxmlformats.org/drawingml/2006/main" w="9525">
            <a:solidFill>
              <a:srgbClr val="D8DE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54996D-1DA0-4E4E-A0E2-BA426D73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238250"/>
            <a:ext cx="66675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2B2"/>
          </a:solidFill>
          <a:ln xmlns:a="http://schemas.openxmlformats.org/drawingml/2006/main" w="9525">
            <a:solidFill>
              <a:srgbClr val="0072B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E4C067-DA80-444F-B935-F2231861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371600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Canonical renderer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E59C6A-2AC4-4919-9637-1F86FAA0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685925"/>
            <a:ext cx="3105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18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rPr>
              <a:t>R/16_publication_figure_suite.R</a:t>
            </a:r>
          </a:p>
          <a:p xmlns:a="http://schemas.openxmlformats.org/drawingml/2006/main">
            <a:pPr>
              <a:def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rPr>
              <a:t>（inside 05_Code_Availability）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4FF1E7-3B2A-4747-BF96-32D45F3B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76500"/>
            <a:ext cx="3429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7F7F4"/>
          </a:solidFill>
          <a:ln xmlns:a="http://schemas.openxmlformats.org/drawingml/2006/main" w="9525">
            <a:solidFill>
              <a:srgbClr val="D8DEE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D8F112-FDD0-4AAA-BB74-D4CCBE75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76500"/>
            <a:ext cx="66675" cy="1190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5E00"/>
          </a:solidFill>
          <a:ln xmlns:a="http://schemas.openxmlformats.org/drawingml/2006/main" w="9525">
            <a:solidFill>
              <a:srgbClr val="D55E0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BC2AA6-2787-4FCF-8548-08A2415B6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09850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Statistical design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C88EDE-02A8-4CCE-AA39-45F1802E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24175"/>
            <a:ext cx="3105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rPr>
              <a:t>Paired patient-level pseudobulk edgeR. GSEA rank uses sign(logFC) × sqrt(F).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7E610A-A5BB-4668-B370-6F1653511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905250"/>
            <a:ext cx="34290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7F7F4"/>
          </a:solidFill>
          <a:ln xmlns:a="http://schemas.openxmlformats.org/drawingml/2006/main" w="9525">
            <a:solidFill>
              <a:srgbClr val="D8DEE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B69DB6-41EF-4900-A187-EB7FCBF5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905250"/>
            <a:ext cx="66675" cy="1381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E73"/>
          </a:solidFill>
          <a:ln xmlns:a="http://schemas.openxmlformats.org/drawingml/2006/main" w="9525">
            <a:solidFill>
              <a:srgbClr val="009E7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22B363-1B87-4C2C-99BB-A835DE5F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38600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GitHub scope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457B64-60FA-4111-8D8F-34D774C2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352925"/>
            <a:ext cx="31051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17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20242A"/>
                </a:solidFill>
                <a:latin typeface="Microsoft JhengHei"/>
                <a:ea typeface="Microsoft JhengHei"/>
                <a:cs typeface="Microsoft JhengHei"/>
              </a:rPr>
              <a:t>Hematologic malignancy project repository。GSE262271 是 single-cell analysis module，raw data 與 R objects 不上傳。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E01993-16F4-43F8-A6B9-4410C42B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1019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閱讀順序：START_HERE → PPT → main figures → key CSV → code。</a:t>
            </a:r>
          </a:p>
        </p:txBody>
      </p:sp>
    </p:spTree>
    <p:extLst>
      <p:ext uri="{BB962C8B-B14F-4D97-AF65-F5344CB8AC3E}">
        <p14:creationId xmlns:p14="http://schemas.microsoft.com/office/powerpoint/2010/main" val="18343181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2026-09-08T22:20:35.5860000Z</dcterms:created>
  <dcterms:modified xsi:type="dcterms:W3CDTF">2026-09-08T22:20:35.5860000Z</dcterms:modified>
</coreProperties>
</file>