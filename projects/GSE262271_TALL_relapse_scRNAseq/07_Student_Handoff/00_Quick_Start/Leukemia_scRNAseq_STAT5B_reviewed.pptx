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c964c2299944623" /><Relationship Type="http://schemas.openxmlformats.org/officeDocument/2006/relationships/extended-properties" Target="/docProps/app.xml" Id="Rb5adbba3358a42be" /><Relationship Type="http://schemas.openxmlformats.org/officeDocument/2006/relationships/officeDocument" Target="/ppt/presentation.xml" Id="R1994dd0477374176" /></Relationships>
</file>

<file path=ppt/presentation.xml><?xml version="1.0" encoding="utf-8"?>
<p:presentation xmlns:p="http://schemas.openxmlformats.org/presentationml/2006/main">
  <p:sldMasterIdLst>
    <p:sldMasterId xmlns:r="http://schemas.openxmlformats.org/officeDocument/2006/relationships" id="2147483648" r:id="R015e711df6fe4f3b"/>
  </p:sldMasterIdLst>
  <p:notesMasterIdLst>
    <p:notesMasterId xmlns:r="http://schemas.openxmlformats.org/officeDocument/2006/relationships" r:id="R9c20c9f156954d11"/>
  </p:notesMasterIdLst>
  <p:sldIdLst>
    <p:sldId xmlns:r="http://schemas.openxmlformats.org/officeDocument/2006/relationships" id="256" r:id="R98ae5fc5158d4ed8"/>
    <p:sldId xmlns:r="http://schemas.openxmlformats.org/officeDocument/2006/relationships" id="257" r:id="R371ccc2969594b0f"/>
    <p:sldId xmlns:r="http://schemas.openxmlformats.org/officeDocument/2006/relationships" id="258" r:id="R1915b54b823a4019"/>
    <p:sldId xmlns:r="http://schemas.openxmlformats.org/officeDocument/2006/relationships" id="259" r:id="R1388ec38459740b3"/>
    <p:sldId xmlns:r="http://schemas.openxmlformats.org/officeDocument/2006/relationships" id="260" r:id="R10b8b1fa9aa94741"/>
    <p:sldId xmlns:r="http://schemas.openxmlformats.org/officeDocument/2006/relationships" id="261" r:id="R709a975c09fc4e66"/>
    <p:sldId xmlns:r="http://schemas.openxmlformats.org/officeDocument/2006/relationships" id="262" r:id="R71240dea63f84795"/>
    <p:sldId xmlns:r="http://schemas.openxmlformats.org/officeDocument/2006/relationships" id="263" r:id="R9bdbae432a4949af"/>
    <p:sldId xmlns:r="http://schemas.openxmlformats.org/officeDocument/2006/relationships" id="264" r:id="Ra9752803f2a14467"/>
    <p:sldId xmlns:r="http://schemas.openxmlformats.org/officeDocument/2006/relationships" id="265" r:id="Rb4add53360174f60"/>
    <p:sldId xmlns:r="http://schemas.openxmlformats.org/officeDocument/2006/relationships" id="266" r:id="R3f5fb255aa7440f1"/>
    <p:sldId xmlns:r="http://schemas.openxmlformats.org/officeDocument/2006/relationships" id="267" r:id="Rb2a628af23f74d0c"/>
    <p:sldId xmlns:r="http://schemas.openxmlformats.org/officeDocument/2006/relationships" id="268" r:id="R202ec12476a64611"/>
    <p:sldId xmlns:r="http://schemas.openxmlformats.org/officeDocument/2006/relationships" id="269" r:id="R221eaef169354976"/>
    <p:sldId xmlns:r="http://schemas.openxmlformats.org/officeDocument/2006/relationships" id="270" r:id="R78ea99ac67b640c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51d7b401284fbb" /><Relationship Type="http://schemas.openxmlformats.org/officeDocument/2006/relationships/slideMaster" Target="/ppt/slideMasters/slideMaster1.xml" Id="R015e711df6fe4f3b" /><Relationship Type="http://schemas.openxmlformats.org/officeDocument/2006/relationships/notesMaster" Target="/ppt/notesMasters/notesMaster1.xml" Id="R9c20c9f156954d11" /><Relationship Type="http://schemas.openxmlformats.org/officeDocument/2006/relationships/presProps" Target="/ppt/presProps.xml" Id="Ra1b8f53e7a5e4344" /><Relationship Type="http://schemas.openxmlformats.org/officeDocument/2006/relationships/tableStyles" Target="/ppt/tableStyles.xml" Id="Rcf65135946824902" /><Relationship Type="http://schemas.openxmlformats.org/officeDocument/2006/relationships/slide" Target="/ppt/slides/slide1.xml" Id="R98ae5fc5158d4ed8" /><Relationship Type="http://schemas.openxmlformats.org/officeDocument/2006/relationships/slide" Target="/ppt/slides/slide2.xml" Id="R371ccc2969594b0f" /><Relationship Type="http://schemas.openxmlformats.org/officeDocument/2006/relationships/slide" Target="/ppt/slides/slide3.xml" Id="R1915b54b823a4019" /><Relationship Type="http://schemas.openxmlformats.org/officeDocument/2006/relationships/slide" Target="/ppt/slides/slide4.xml" Id="R1388ec38459740b3" /><Relationship Type="http://schemas.openxmlformats.org/officeDocument/2006/relationships/slide" Target="/ppt/slides/slide5.xml" Id="R10b8b1fa9aa94741" /><Relationship Type="http://schemas.openxmlformats.org/officeDocument/2006/relationships/slide" Target="/ppt/slides/slide6.xml" Id="R709a975c09fc4e66" /><Relationship Type="http://schemas.openxmlformats.org/officeDocument/2006/relationships/slide" Target="/ppt/slides/slide7.xml" Id="R71240dea63f84795" /><Relationship Type="http://schemas.openxmlformats.org/officeDocument/2006/relationships/slide" Target="/ppt/slides/slide8.xml" Id="R9bdbae432a4949af" /><Relationship Type="http://schemas.openxmlformats.org/officeDocument/2006/relationships/slide" Target="/ppt/slides/slide9.xml" Id="Ra9752803f2a14467" /><Relationship Type="http://schemas.openxmlformats.org/officeDocument/2006/relationships/slide" Target="/ppt/slides/slide10.xml" Id="Rb4add53360174f60" /><Relationship Type="http://schemas.openxmlformats.org/officeDocument/2006/relationships/slide" Target="/ppt/slides/slide11.xml" Id="R3f5fb255aa7440f1" /><Relationship Type="http://schemas.openxmlformats.org/officeDocument/2006/relationships/slide" Target="/ppt/slides/slide12.xml" Id="Rb2a628af23f74d0c" /><Relationship Type="http://schemas.openxmlformats.org/officeDocument/2006/relationships/slide" Target="/ppt/slides/slide13.xml" Id="R202ec12476a64611" /><Relationship Type="http://schemas.openxmlformats.org/officeDocument/2006/relationships/slide" Target="/ppt/slides/slide14.xml" Id="R221eaef169354976" /><Relationship Type="http://schemas.openxmlformats.org/officeDocument/2006/relationships/slide" Target="/ppt/slides/slide15.xml" Id="R78ea99ac67b640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1708cf8c8243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6d4ee524ab488d" /><Relationship Type="http://schemas.openxmlformats.org/officeDocument/2006/relationships/notesMaster" Target="/ppt/notesMasters/notesMaster1.xml" Id="R09a07bc4268e43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c51372dee04c8e" /><Relationship Type="http://schemas.openxmlformats.org/officeDocument/2006/relationships/notesMaster" Target="/ppt/notesMasters/notesMaster1.xml" Id="R08d871ac5d004a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12da45a545484a" /><Relationship Type="http://schemas.openxmlformats.org/officeDocument/2006/relationships/notesMaster" Target="/ppt/notesMasters/notesMaster1.xml" Id="R86b28b522f504e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b2c9a571894462" /><Relationship Type="http://schemas.openxmlformats.org/officeDocument/2006/relationships/notesMaster" Target="/ppt/notesMasters/notesMaster1.xml" Id="R41546a39e24e43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7a30f5c1da43ec" /><Relationship Type="http://schemas.openxmlformats.org/officeDocument/2006/relationships/notesMaster" Target="/ppt/notesMasters/notesMaster1.xml" Id="R16bf9295e8b649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5a3a38ec6049b8" /><Relationship Type="http://schemas.openxmlformats.org/officeDocument/2006/relationships/notesMaster" Target="/ppt/notesMasters/notesMaster1.xml" Id="Rd59a6fabb61448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2d259108204464" /><Relationship Type="http://schemas.openxmlformats.org/officeDocument/2006/relationships/notesMaster" Target="/ppt/notesMasters/notesMaster1.xml" Id="R542e1a39da014d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5bcb8afa0347a4" /><Relationship Type="http://schemas.openxmlformats.org/officeDocument/2006/relationships/notesMaster" Target="/ppt/notesMasters/notesMaster1.xml" Id="R65d61d85008447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7ad0ac2b6e4a40" /><Relationship Type="http://schemas.openxmlformats.org/officeDocument/2006/relationships/notesMaster" Target="/ppt/notesMasters/notesMaster1.xml" Id="R91c9a762584848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22593b568c4365" /><Relationship Type="http://schemas.openxmlformats.org/officeDocument/2006/relationships/notesMaster" Target="/ppt/notesMasters/notesMaster1.xml" Id="Rc3defe63a10b41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e36a0b975f4a62" /><Relationship Type="http://schemas.openxmlformats.org/officeDocument/2006/relationships/notesMaster" Target="/ppt/notesMasters/notesMaster1.xml" Id="R81c7d116db754f2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72b655cc534b4e" /><Relationship Type="http://schemas.openxmlformats.org/officeDocument/2006/relationships/notesMaster" Target="/ppt/notesMasters/notesMaster1.xml" Id="R5aa91be633704a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991a156c1f94986" /><Relationship Type="http://schemas.openxmlformats.org/officeDocument/2006/relationships/notesMaster" Target="/ppt/notesMasters/notesMaster1.xml" Id="Rb57f03158a0849f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4d9e9cb347e43b1" /><Relationship Type="http://schemas.openxmlformats.org/officeDocument/2006/relationships/notesMaster" Target="/ppt/notesMasters/notesMaster1.xml" Id="Reb84b9651ab047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fb0ccfaf7d410e" /><Relationship Type="http://schemas.openxmlformats.org/officeDocument/2006/relationships/notesMaster" Target="/ppt/notesMasters/notesMaster1.xml" Id="R99c36d919f284b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研究目的由先前 STAT5 粒線體、mitophagy、proteasome 假說延伸。跨物種、不同實驗情境的 pathway 同方向只屬支持性關聯。不可稱為 bortezomib sensitivity、直接因果或獨立人類臨床驗證。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https://www.ncbi.nlm.nih.gov/geo/query/acc.cgi?acc=GSE262271 ; https://www.ncbi.nlm.nih.gov/geo/query/acc.cgi?acc=GSE218858 . Bulk genotype uses GEO characteristics rather than inconsistent sample-title shorthand. Full selected sample IDs in bulk_sample_design.csv.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labels are stored separately. Original Seurat annotations retained for traceability. Broad lineage assignments are supported by cluster markers but not independent reference mapping, flow cytometry or mutation/clonotype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01B contains all 20 clusters and canonical marker panels. These descriptive scores are not donor-level significance tests. HTO singlet filtering does not rule out all same-sample doublets. Erythroid and cytotoxic T/NK labels remain coarse.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867 non-T reference cells yield empirical q95=0.0269455, and 1978/12828=15.419% candidates exceed it. The absolute cutoff is not equivalent to selecting 15% within every sample. The exploratory 15% was considered after outcome inspection, so it is not outcome-independent or unbiased.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Figure03B uses exploratory within-sample top15, original stored QC, paired edgeR ranking, fixed seed 20260915 and full KEGG BH. Up to eight pathways per direction are displayed on this slide. Figure03 displays up to fifteen per direction and Table04 contains the complete catalog. Disease-labeled gene sets often share metabolic/proteostasis genes and do not diagnose those diseases.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R2S5b_DN vs R2b_DN, independent n3 vs3. Enrichr KEGG2019 Mouse catalog differs from the frozen human KEGG catalog. Each complete catalog has its own BH denominator. Refit from deposited raw count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Figure05 restricts the universe to common tested canonical pathway names. It does not call pathways missing from one catalog non-significant. Circle area is schematic. Table06 has all membership; Table07 lists all40 primary shared pathways. TableS05 retains global25 sensitivity. Primary display uses within15 as requested, while cutoff selection remains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Table07 and complete Figure06 use exactly the same order: increasing max(sc_FDR, bulk_FDR), with alphabetical pathway-name ties. The maximum is a display ordering key, not a combined FDR. Point position indicates NES. Blue denotes relapse scRNAseq and orange denotes STAT5B N642H bulk. Stars beside each point indicate full-catalog BH FDR: *&lt;0.05, **&lt;0.01, ***&lt;0.001. Stars use unrounded FDR, never nominal P. All40 satisfy FDR&lt;0.05 in both datasets. All pathway labels use the same plain typeface. Layout reference: Reis-de-Oliveira et al., Nature Communications (2024), Figures3B and4D, https://www.nature.com/articles/s41467-024-50875-z . Only the plot layout is adapted; the reference article uses other enrichment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Continuation of the complete40-pathway intersection. Both datasets use full-collection BH FDR&lt;0.05. Positive NES means higher in relapse (left) or N642H (right). scRNAseq Proteasome FDR=0.00837925505996343, Mitophagy=0.0131970176091592; bulk Proteasome=0.00107780111297412, Mitophagy=0.028233910102446. Disease/infection-labeled gene sets do not establish those diagnoses. Abbreviated display labels retain exact original names in Table07.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Numeric results are read from regenerated tables, not hard-coded historical values. q means whole KEGG BH, not nominal P or two-target correction. Within15 is exploratory because cutoff was selected after multiverse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patients limit inference. A gene need not rise in all three pairs for fitting a paired model. Gene-level DEG FDR and gene-set GSEA FDR answer different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inferCNV score is RNA-based deviation from reference, not measured DNA copy number, a probability of cancer, or a patient-independent validated specificity threshold. Reference sample/cell-type composition is unbalanced. Official workflow: https://github.com/broadinstitute/inferCNV/wiki/Running-InferCNV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limits of the actual contrasts. General autophagy is not interchangeable with mitophagy. Inspect shared leading-edge genes and full FDR tables before choosing individual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Code22 recomputes count-based models and high-precision GSEA. Code23 renders reader figures/tables. The audit reports historical discrepancies rather than silently replacing provenance. No raw data, patient identifiers or large R objects are uploaded.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5862916a8b040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9a9ce851a148d9" /><Relationship Type="http://schemas.openxmlformats.org/officeDocument/2006/relationships/slideLayout" Target="/ppt/slideLayouts/slideLayout1.xml" Id="R01163eda32a14c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163eda32a14c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7b1543579543d3" /><Relationship Type="http://schemas.openxmlformats.org/officeDocument/2006/relationships/notesSlide" Target="/ppt/notesSlides/notesSlide1.xml" Id="Ref34ab4d503c4f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b158eddd0c4844" /><Relationship Type="http://schemas.openxmlformats.org/officeDocument/2006/relationships/notesSlide" Target="/ppt/notesSlides/notesSlide2.xml" Id="R53d7b01d6b5849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2bc847938b44a5" /><Relationship Type="http://schemas.openxmlformats.org/officeDocument/2006/relationships/image" Target="/ppt/media/image.png" Id="R5f887bf8510b4df9" /><Relationship Type="http://schemas.openxmlformats.org/officeDocument/2006/relationships/notesSlide" Target="/ppt/notesSlides/notesSlide3.xml" Id="Rad30cce6ef034c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92d908dd2ba4fa8" /><Relationship Type="http://schemas.openxmlformats.org/officeDocument/2006/relationships/image" Target="/ppt/media/image2.png" Id="R1066eb65f81a4bc7" /><Relationship Type="http://schemas.openxmlformats.org/officeDocument/2006/relationships/notesSlide" Target="/ppt/notesSlides/notesSlide4.xml" Id="Ra7343b6aa6904df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9c00e91fd0c4ee1" /><Relationship Type="http://schemas.openxmlformats.org/officeDocument/2006/relationships/image" Target="/ppt/media/image3.png" Id="R887bd4cac309448f" /><Relationship Type="http://schemas.openxmlformats.org/officeDocument/2006/relationships/notesSlide" Target="/ppt/notesSlides/notesSlide5.xml" Id="R1e48f39aa93546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32ce48e756c4d24" /><Relationship Type="http://schemas.openxmlformats.org/officeDocument/2006/relationships/image" Target="/ppt/media/image4.png" Id="Rca7da34f50fb4169" /><Relationship Type="http://schemas.openxmlformats.org/officeDocument/2006/relationships/notesSlide" Target="/ppt/notesSlides/notesSlide6.xml" Id="R48ddf71e8e0648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a91d8efa934860" /><Relationship Type="http://schemas.openxmlformats.org/officeDocument/2006/relationships/image" Target="/ppt/media/image5.png" Id="R485437988e8545aa" /><Relationship Type="http://schemas.openxmlformats.org/officeDocument/2006/relationships/notesSlide" Target="/ppt/notesSlides/notesSlide7.xml" Id="R624aea71f91641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1fd9db0fbd447e" /><Relationship Type="http://schemas.openxmlformats.org/officeDocument/2006/relationships/image" Target="/ppt/media/image6.png" Id="R708e79115cb349f9" /><Relationship Type="http://schemas.openxmlformats.org/officeDocument/2006/relationships/notesSlide" Target="/ppt/notesSlides/notesSlide8.xml" Id="R8215624a0d1648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674b1ba9bb4334" /><Relationship Type="http://schemas.openxmlformats.org/officeDocument/2006/relationships/image" Target="/ppt/media/image7.png" Id="R48f31e469148487b" /><Relationship Type="http://schemas.openxmlformats.org/officeDocument/2006/relationships/notesSlide" Target="/ppt/notesSlides/notesSlide9.xml" Id="R746f92c277be40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cc9e7c1f9b4645" /><Relationship Type="http://schemas.openxmlformats.org/officeDocument/2006/relationships/image" Target="/ppt/media/image8.png" Id="R9f13a2488b134ddb" /><Relationship Type="http://schemas.openxmlformats.org/officeDocument/2006/relationships/notesSlide" Target="/ppt/notesSlides/notesSlide10.xml" Id="R38bfc98f0fb94f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ca6b0217a542a5" /><Relationship Type="http://schemas.openxmlformats.org/officeDocument/2006/relationships/image" Target="/ppt/media/image9.png" Id="R10940254e7024511" /><Relationship Type="http://schemas.openxmlformats.org/officeDocument/2006/relationships/notesSlide" Target="/ppt/notesSlides/notesSlide11.xml" Id="Rf34744c22b634d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ae573b7ac4a4c11" /><Relationship Type="http://schemas.openxmlformats.org/officeDocument/2006/relationships/image" Target="/ppt/media/image10.png" Id="R78ac20b349324cdc" /><Relationship Type="http://schemas.openxmlformats.org/officeDocument/2006/relationships/notesSlide" Target="/ppt/notesSlides/notesSlide12.xml" Id="R76a8cb93738f48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f36747bac2d4c6c" /><Relationship Type="http://schemas.openxmlformats.org/officeDocument/2006/relationships/notesSlide" Target="/ppt/notesSlides/notesSlide13.xml" Id="Rc7cc1a94c1e94ac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20a319ecab4bc9" /><Relationship Type="http://schemas.openxmlformats.org/officeDocument/2006/relationships/notesSlide" Target="/ppt/notesSlides/notesSlide14.xml" Id="R5f7e4d063a2c4d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6f3f2e550e64d0d" /><Relationship Type="http://schemas.openxmlformats.org/officeDocument/2006/relationships/notesSlide" Target="/ppt/notesSlides/notesSlide15.xml" Id="R0f536f0bcbf845c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A9AC6A-2047-4E19-96CE-3983FD392025}"/>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RESEARCH QUESTION</a:t>
            </a:r>
          </a:p>
        </p:txBody>
      </p:sp>
      <p:sp>
        <p:nvSpPr>
          <p:cNvPr id="2" name="">
            <a:extLst xmlns:a="http://schemas.openxmlformats.org/drawingml/2006/main">
              <a:ext uri="{FF2B5EF4-FFF2-40B4-BE49-F238E27FC236}">
                <a16:creationId xmlns:a16="http://schemas.microsoft.com/office/drawing/2014/main" id="{C7545131-3BED-45EA-92F2-E557401601A8}"/>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T-ALL relapse 與 STAT5B 活化</a:t>
            </a:r>
          </a:p>
        </p:txBody>
      </p:sp>
      <p:sp>
        <p:nvSpPr>
          <p:cNvPr id="3" name="">
            <a:extLst xmlns:a="http://schemas.openxmlformats.org/drawingml/2006/main">
              <a:ext uri="{FF2B5EF4-FFF2-40B4-BE49-F238E27FC236}">
                <a16:creationId xmlns:a16="http://schemas.microsoft.com/office/drawing/2014/main" id="{8D899F37-A61D-4A72-BF2D-006A8860C660}"/>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B2255C29-B9DC-4A1D-B717-10EE22547455}"/>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01</a:t>
            </a:r>
          </a:p>
        </p:txBody>
      </p:sp>
      <p:sp>
        <p:nvSpPr>
          <p:cNvPr id="5" name="">
            <a:extLst xmlns:a="http://schemas.openxmlformats.org/drawingml/2006/main">
              <a:ext uri="{FF2B5EF4-FFF2-40B4-BE49-F238E27FC236}">
                <a16:creationId xmlns:a16="http://schemas.microsoft.com/office/drawing/2014/main" id="{91997C50-51E0-4996-AA35-8629E4FF49D7}"/>
              </a:ext>
            </a:extLst>
          </p:cNvPr>
          <p:cNvSpPr>
            <a:spLocks xmlns:a="http://schemas.openxmlformats.org/drawingml/2006/main" noGrp="1"/>
          </p:cNvSpPr>
          <p:nvPr/>
        </p:nvSpPr>
        <p:spPr>
          <a:xfrm xmlns:a="http://schemas.openxmlformats.org/drawingml/2006/main">
            <a:off x="571500" y="166687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850" b="1">
                <a:solidFill>
                  <a:srgbClr val="142F43"/>
                </a:solidFill>
                <a:latin typeface="Microsoft JhengHei"/>
                <a:ea typeface="Microsoft JhengHei"/>
                <a:cs typeface="Microsoft JhengHei"/>
              </a:defRPr>
            </a:pPr>
            <a:r>
              <a:rPr sz="2850" b="1">
                <a:solidFill>
                  <a:srgbClr val="142F43"/>
                </a:solidFill>
                <a:latin typeface="Microsoft JhengHei"/>
                <a:ea typeface="Microsoft JhengHei"/>
                <a:cs typeface="Microsoft JhengHei"/>
              </a:rPr>
              <a:t>兩組 transcriptome 有哪些共同的 pathway 變化？</a:t>
            </a:r>
          </a:p>
        </p:txBody>
      </p:sp>
      <p:sp>
        <p:nvSpPr>
          <p:cNvPr id="6" name="">
            <a:extLst xmlns:a="http://schemas.openxmlformats.org/drawingml/2006/main">
              <a:ext uri="{FF2B5EF4-FFF2-40B4-BE49-F238E27FC236}">
                <a16:creationId xmlns:a16="http://schemas.microsoft.com/office/drawing/2014/main" id="{B47E1B56-205C-4B98-96B2-913321EA9C1B}"/>
              </a:ext>
            </a:extLst>
          </p:cNvPr>
          <p:cNvSpPr>
            <a:spLocks xmlns:a="http://schemas.openxmlformats.org/drawingml/2006/main" noGrp="1"/>
          </p:cNvSpPr>
          <p:nvPr/>
        </p:nvSpPr>
        <p:spPr>
          <a:xfrm xmlns:a="http://schemas.openxmlformats.org/drawingml/2006/main">
            <a:off x="590550" y="28575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0">
                <a:solidFill>
                  <a:srgbClr val="142F43"/>
                </a:solidFill>
                <a:latin typeface="Microsoft JhengHei"/>
                <a:ea typeface="Microsoft JhengHei"/>
                <a:cs typeface="Microsoft JhengHei"/>
              </a:defRPr>
            </a:pPr>
            <a:r>
              <a:rPr sz="2100" b="0">
                <a:solidFill>
                  <a:srgbClr val="142F43"/>
                </a:solidFill>
                <a:latin typeface="Microsoft JhengHei"/>
                <a:ea typeface="Microsoft JhengHei"/>
                <a:cs typeface="Microsoft JhengHei"/>
              </a:rPr>
              <a:t>先比較完整 KEGG enrichment 與同方向交集，再檢視 proteasome、mitophagy 和相關生物機制。</a:t>
            </a:r>
          </a:p>
        </p:txBody>
      </p:sp>
      <p:sp>
        <p:nvSpPr>
          <p:cNvPr id="7" name="">
            <a:extLst xmlns:a="http://schemas.openxmlformats.org/drawingml/2006/main">
              <a:ext uri="{FF2B5EF4-FFF2-40B4-BE49-F238E27FC236}">
                <a16:creationId xmlns:a16="http://schemas.microsoft.com/office/drawing/2014/main" id="{A4D93AB5-9D8F-48F0-B412-1B0D2A0E0B06}"/>
              </a:ext>
            </a:extLst>
          </p:cNvPr>
          <p:cNvSpPr>
            <a:spLocks xmlns:a="http://schemas.openxmlformats.org/drawingml/2006/main" noGrp="1"/>
          </p:cNvSpPr>
          <p:nvPr/>
        </p:nvSpPr>
        <p:spPr>
          <a:xfrm xmlns:a="http://schemas.openxmlformats.org/drawingml/2006/main">
            <a:off x="590550" y="4429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142F43"/>
                </a:solidFill>
                <a:latin typeface="Microsoft JhengHei"/>
                <a:ea typeface="Microsoft JhengHei"/>
                <a:cs typeface="Microsoft JhengHei"/>
              </a:defRPr>
            </a:pPr>
            <a:r>
              <a:rPr sz="1800" b="0">
                <a:solidFill>
                  <a:srgbClr val="142F43"/>
                </a:solidFill>
                <a:latin typeface="Microsoft JhengHei"/>
                <a:ea typeface="Microsoft JhengHei"/>
                <a:cs typeface="Microsoft JhengHei"/>
              </a:rPr>
              <a:t>GSE262271：3 位病人 diagnosis / relapse 配對</a:t>
            </a:r>
          </a:p>
          <a:p xmlns:a="http://schemas.openxmlformats.org/drawingml/2006/main">
            <a:pPr>
              <a:defRPr sz="1800" b="0">
                <a:solidFill>
                  <a:srgbClr val="142F43"/>
                </a:solidFill>
                <a:latin typeface="Microsoft JhengHei"/>
                <a:ea typeface="Microsoft JhengHei"/>
                <a:cs typeface="Microsoft JhengHei"/>
              </a:defRPr>
            </a:pPr>
            <a:r>
              <a:rPr sz="1800" b="0">
                <a:solidFill>
                  <a:srgbClr val="142F43"/>
                </a:solidFill>
                <a:latin typeface="Microsoft JhengHei"/>
                <a:ea typeface="Microsoft JhengHei"/>
                <a:cs typeface="Microsoft JhengHei"/>
              </a:rPr>
              <a:t>GSE218858：STAT5B N642H 與對照各 3 個 bulk samples</a:t>
            </a:r>
          </a:p>
        </p:txBody>
      </p:sp>
      <p:sp>
        <p:nvSpPr>
          <p:cNvPr id="8" name="">
            <a:extLst xmlns:a="http://schemas.openxmlformats.org/drawingml/2006/main">
              <a:ext uri="{FF2B5EF4-FFF2-40B4-BE49-F238E27FC236}">
                <a16:creationId xmlns:a16="http://schemas.microsoft.com/office/drawing/2014/main" id="{BBD193C2-5D8C-4581-8699-BC2E4B32DC7F}"/>
              </a:ext>
            </a:extLst>
          </p:cNvPr>
          <p:cNvSpPr>
            <a:spLocks xmlns:a="http://schemas.openxmlformats.org/drawingml/2006/main" noGrp="1"/>
          </p:cNvSpPr>
          <p:nvPr/>
        </p:nvSpPr>
        <p:spPr>
          <a:xfrm xmlns:a="http://schemas.openxmlformats.org/drawingml/2006/main">
            <a:off x="590550" y="58007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4D5B66"/>
                </a:solidFill>
                <a:latin typeface="Microsoft JhengHei"/>
                <a:ea typeface="Microsoft JhengHei"/>
                <a:cs typeface="Microsoft JhengHei"/>
              </a:defRPr>
            </a:pPr>
            <a:r>
              <a:rPr sz="1500" b="0">
                <a:solidFill>
                  <a:srgbClr val="4D5B66"/>
                </a:solidFill>
                <a:latin typeface="Microsoft JhengHei"/>
                <a:ea typeface="Microsoft JhengHei"/>
                <a:cs typeface="Microsoft JhengHei"/>
              </a:rPr>
              <a:t>主分析固定 within-sample CNV top 15%，pathway 與交集皆採完整 KEGG FDR &lt; 0.05。</a:t>
            </a:r>
          </a:p>
        </p:txBody>
      </p:sp>
    </p:spTree>
    <p:extLst>
      <p:ext uri="{BB962C8B-B14F-4D97-AF65-F5344CB8AC3E}">
        <p14:creationId xmlns:p14="http://schemas.microsoft.com/office/powerpoint/2010/main" val="602176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8A1706-01A7-45C5-ACC7-41D3F652C45B}"/>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DATASETS</a:t>
            </a:r>
          </a:p>
        </p:txBody>
      </p:sp>
      <p:sp>
        <p:nvSpPr>
          <p:cNvPr id="2" name="">
            <a:extLst xmlns:a="http://schemas.openxmlformats.org/drawingml/2006/main">
              <a:ext uri="{FF2B5EF4-FFF2-40B4-BE49-F238E27FC236}">
                <a16:creationId xmlns:a16="http://schemas.microsoft.com/office/drawing/2014/main" id="{96C564E8-2AFF-4649-A93E-4AA6EB0EDADA}"/>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資料集與比較方向</a:t>
            </a:r>
          </a:p>
        </p:txBody>
      </p:sp>
      <p:sp>
        <p:nvSpPr>
          <p:cNvPr id="3" name="">
            <a:extLst xmlns:a="http://schemas.openxmlformats.org/drawingml/2006/main">
              <a:ext uri="{FF2B5EF4-FFF2-40B4-BE49-F238E27FC236}">
                <a16:creationId xmlns:a16="http://schemas.microsoft.com/office/drawing/2014/main" id="{D072FCBF-C34B-46E6-9C4B-229639DB172E}"/>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0F97A5FA-6D7C-4D36-8FB1-F99C230EF894}"/>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02</a:t>
            </a:r>
          </a:p>
        </p:txBody>
      </p:sp>
      <p:graphicFrame>
        <p:nvGraphicFramePr>
          <p:cNvPr id="11" name=""/>
          <p:cNvGraphicFramePr/>
          <p:nvPr/>
        </p:nvGraphicFramePr>
        <p:xfrm>
          <a:off xmlns:a="http://schemas.openxmlformats.org/drawingml/2006/main" x="523875" y="1238250"/>
          <a:ext xmlns:a="http://schemas.openxmlformats.org/drawingml/2006/main" cx="11144250" cy="3762375"/>
        </p:xfrm>
        <a:graphic xmlns:a="http://schemas.openxmlformats.org/drawingml/2006/main">
          <a:graphicData uri="http://schemas.openxmlformats.org/drawingml/2006/table">
            <a:tbl>
              <a:tblPr firstRow="1" bandRow="0"/>
              <a:tblGrid>
                <a:gridCol w="2286000"/>
                <a:gridCol w="4191000"/>
                <a:gridCol w="4667250"/>
              </a:tblGrid>
              <a:tr h="419100">
                <a:tc>
                  <a:txBody>
                    <a:bodyPr/>
                    <a:lstStyle/>
                    <a:p>
                      <a:r>
                        <a:rPr sz="1500" b="1">
                          <a:solidFill>
                            <a:srgbClr val="FFFFFF"/>
                          </a:solidFill>
                          <a:latin typeface="Microsoft JhengHei"/>
                          <a:ea typeface="Microsoft JhengHei"/>
                          <a:cs typeface="Microsoft JhengHei"/>
                        </a:rPr>
                        <a:t>Dataset</a:t>
                      </a:r>
                    </a:p>
                  </a:txBody>
                  <a:tcPr marL="91440" marR="91440" marT="45720" marB="45720">
                    <a:solidFill>
                      <a:srgbClr val="142F43"/>
                    </a:solidFill>
                  </a:tcPr>
                </a:tc>
                <a:tc>
                  <a:txBody>
                    <a:bodyPr/>
                    <a:lstStyle/>
                    <a:p>
                      <a:r>
                        <a:rPr sz="1500" b="1">
                          <a:solidFill>
                            <a:srgbClr val="FFFFFF"/>
                          </a:solidFill>
                          <a:latin typeface="Microsoft JhengHei"/>
                          <a:ea typeface="Microsoft JhengHei"/>
                          <a:cs typeface="Microsoft JhengHei"/>
                        </a:rPr>
                        <a:t>設計</a:t>
                      </a:r>
                    </a:p>
                  </a:txBody>
                  <a:tcPr marL="91440" marR="91440" marT="45720" marB="45720">
                    <a:solidFill>
                      <a:srgbClr val="142F43"/>
                    </a:solidFill>
                  </a:tcPr>
                </a:tc>
                <a:tc>
                  <a:txBody>
                    <a:bodyPr/>
                    <a:lstStyle/>
                    <a:p>
                      <a:r>
                        <a:rPr sz="1500" b="1">
                          <a:solidFill>
                            <a:srgbClr val="FFFFFF"/>
                          </a:solidFill>
                          <a:latin typeface="Microsoft JhengHei"/>
                          <a:ea typeface="Microsoft JhengHei"/>
                          <a:cs typeface="Microsoft JhengHei"/>
                        </a:rPr>
                        <a:t>模型與正方向</a:t>
                      </a:r>
                    </a:p>
                  </a:txBody>
                  <a:tcPr marL="91440" marR="91440" marT="45720" marB="45720">
                    <a:solidFill>
                      <a:srgbClr val="142F43"/>
                    </a:solidFill>
                  </a:tcPr>
                </a:tc>
              </a:tr>
              <a:tr h="1671638">
                <a:tc>
                  <a:txBody>
                    <a:bodyPr/>
                    <a:lstStyle/>
                    <a:p>
                      <a:r>
                        <a:rPr sz="1500">
                          <a:solidFill>
                            <a:srgbClr val="142F43"/>
                          </a:solidFill>
                          <a:latin typeface="Microsoft JhengHei"/>
                          <a:ea typeface="Microsoft JhengHei"/>
                          <a:cs typeface="Microsoft JhengHei"/>
                        </a:rPr>
                        <a:t>GSE262271</a:t>
                      </a:r>
                    </a:p>
                    <a:p>
                      <a:r>
                        <a:rPr sz="1500">
                          <a:solidFill>
                            <a:srgbClr val="142F43"/>
                          </a:solidFill>
                          <a:latin typeface="Microsoft JhengHei"/>
                          <a:ea typeface="Microsoft JhengHei"/>
                          <a:cs typeface="Microsoft JhengHei"/>
                        </a:rPr>
                        <a:t>Human scRNA-seq</a:t>
                      </a:r>
                    </a:p>
                  </a:txBody>
                  <a:tcPr marL="91440" marR="91440" marT="45720" marB="45720"/>
                </a:tc>
                <a:tc>
                  <a:txBody>
                    <a:bodyPr/>
                    <a:lstStyle/>
                    <a:p>
                      <a:r>
                        <a:rPr sz="1500">
                          <a:solidFill>
                            <a:srgbClr val="142F43"/>
                          </a:solidFill>
                          <a:latin typeface="Microsoft JhengHei"/>
                          <a:ea typeface="Microsoft JhengHei"/>
                          <a:cs typeface="Microsoft JhengHei"/>
                        </a:rPr>
                        <a:t>3 paired patients</a:t>
                      </a:r>
                    </a:p>
                    <a:p>
                      <a:r>
                        <a:rPr sz="1500">
                          <a:solidFill>
                            <a:srgbClr val="142F43"/>
                          </a:solidFill>
                          <a:latin typeface="Microsoft JhengHei"/>
                          <a:ea typeface="Microsoft JhengHei"/>
                          <a:cs typeface="Microsoft JhengHei"/>
                        </a:rPr>
                        <a:t>P1: M104 / M127</a:t>
                      </a:r>
                    </a:p>
                    <a:p>
                      <a:r>
                        <a:rPr sz="1500">
                          <a:solidFill>
                            <a:srgbClr val="142F43"/>
                          </a:solidFill>
                          <a:latin typeface="Microsoft JhengHei"/>
                          <a:ea typeface="Microsoft JhengHei"/>
                          <a:cs typeface="Microsoft JhengHei"/>
                        </a:rPr>
                        <a:t>P2: M143 / M148</a:t>
                      </a:r>
                    </a:p>
                    <a:p>
                      <a:r>
                        <a:rPr sz="1500">
                          <a:solidFill>
                            <a:srgbClr val="142F43"/>
                          </a:solidFill>
                          <a:latin typeface="Microsoft JhengHei"/>
                          <a:ea typeface="Microsoft JhengHei"/>
                          <a:cs typeface="Microsoft JhengHei"/>
                        </a:rPr>
                        <a:t>P3: M187 / M187r</a:t>
                      </a:r>
                    </a:p>
                  </a:txBody>
                  <a:tcPr marL="91440" marR="91440" marT="45720" marB="45720"/>
                </a:tc>
                <a:tc>
                  <a:txBody>
                    <a:bodyPr/>
                    <a:lstStyle/>
                    <a:p>
                      <a:r>
                        <a:rPr sz="1500">
                          <a:solidFill>
                            <a:srgbClr val="142F43"/>
                          </a:solidFill>
                          <a:latin typeface="Microsoft JhengHei"/>
                          <a:ea typeface="Microsoft JhengHei"/>
                          <a:cs typeface="Microsoft JhengHei"/>
                        </a:rPr>
                        <a:t>Patient-sample pseudobulk</a:t>
                      </a:r>
                    </a:p>
                    <a:p>
                      <a:r>
                        <a:rPr sz="1500">
                          <a:solidFill>
                            <a:srgbClr val="142F43"/>
                          </a:solidFill>
                          <a:latin typeface="Microsoft JhengHei"/>
                          <a:ea typeface="Microsoft JhengHei"/>
                          <a:cs typeface="Microsoft JhengHei"/>
                        </a:rPr>
                        <a:t>edgeR: patient + condition</a:t>
                      </a:r>
                    </a:p>
                    <a:p>
                      <a:r>
                        <a:rPr sz="1500">
                          <a:solidFill>
                            <a:srgbClr val="142F43"/>
                          </a:solidFill>
                          <a:latin typeface="Microsoft JhengHei"/>
                          <a:ea typeface="Microsoft JhengHei"/>
                          <a:cs typeface="Microsoft JhengHei"/>
                        </a:rPr>
                        <a:t>Positive = relapse higher</a:t>
                      </a:r>
                    </a:p>
                  </a:txBody>
                  <a:tcPr marL="91440" marR="91440" marT="45720" marB="45720"/>
                </a:tc>
              </a:tr>
              <a:tr h="1671638">
                <a:tc>
                  <a:txBody>
                    <a:bodyPr/>
                    <a:lstStyle/>
                    <a:p>
                      <a:r>
                        <a:rPr sz="1500">
                          <a:solidFill>
                            <a:srgbClr val="142F43"/>
                          </a:solidFill>
                          <a:latin typeface="Microsoft JhengHei"/>
                          <a:ea typeface="Microsoft JhengHei"/>
                          <a:cs typeface="Microsoft JhengHei"/>
                        </a:rPr>
                        <a:t>GSE218858</a:t>
                      </a:r>
                    </a:p>
                    <a:p>
                      <a:r>
                        <a:rPr sz="1500">
                          <a:solidFill>
                            <a:srgbClr val="142F43"/>
                          </a:solidFill>
                          <a:latin typeface="Microsoft JhengHei"/>
                          <a:ea typeface="Microsoft JhengHei"/>
                          <a:cs typeface="Microsoft JhengHei"/>
                        </a:rPr>
                        <a:t>Mouse bulk RNA-seq</a:t>
                      </a:r>
                    </a:p>
                  </a:txBody>
                  <a:tcPr marL="91440" marR="91440" marT="45720" marB="45720"/>
                </a:tc>
                <a:tc>
                  <a:txBody>
                    <a:bodyPr/>
                    <a:lstStyle/>
                    <a:p>
                      <a:r>
                        <a:rPr sz="1500">
                          <a:solidFill>
                            <a:srgbClr val="142F43"/>
                          </a:solidFill>
                          <a:latin typeface="Microsoft JhengHei"/>
                          <a:ea typeface="Microsoft JhengHei"/>
                          <a:cs typeface="Microsoft JhengHei"/>
                        </a:rPr>
                        <a:t>Rag2-/- DN stage</a:t>
                      </a:r>
                    </a:p>
                    <a:p>
                      <a:r>
                        <a:rPr sz="1500">
                          <a:solidFill>
                            <a:srgbClr val="142F43"/>
                          </a:solidFill>
                          <a:latin typeface="Microsoft JhengHei"/>
                          <a:ea typeface="Microsoft JhengHei"/>
                          <a:cs typeface="Microsoft JhengHei"/>
                        </a:rPr>
                        <a:t>STAT5B N642H: n = 3</a:t>
                      </a:r>
                    </a:p>
                    <a:p>
                      <a:r>
                        <a:rPr sz="1500">
                          <a:solidFill>
                            <a:srgbClr val="142F43"/>
                          </a:solidFill>
                          <a:latin typeface="Microsoft JhengHei"/>
                          <a:ea typeface="Microsoft JhengHei"/>
                          <a:cs typeface="Microsoft JhengHei"/>
                        </a:rPr>
                        <a:t>Control: n = 3</a:t>
                      </a:r>
                    </a:p>
                    <a:p>
                      <a:r>
                        <a:rPr sz="1500">
                          <a:solidFill>
                            <a:srgbClr val="142F43"/>
                          </a:solidFill>
                          <a:latin typeface="Microsoft JhengHei"/>
                          <a:ea typeface="Microsoft JhengHei"/>
                          <a:cs typeface="Microsoft JhengHei"/>
                        </a:rPr>
                        <a:t>Independent biological samples</a:t>
                      </a:r>
                    </a:p>
                  </a:txBody>
                  <a:tcPr marL="91440" marR="91440" marT="45720" marB="45720"/>
                </a:tc>
                <a:tc>
                  <a:txBody>
                    <a:bodyPr/>
                    <a:lstStyle/>
                    <a:p>
                      <a:r>
                        <a:rPr sz="1500">
                          <a:solidFill>
                            <a:srgbClr val="142F43"/>
                          </a:solidFill>
                          <a:latin typeface="Microsoft JhengHei"/>
                          <a:ea typeface="Microsoft JhengHei"/>
                          <a:cs typeface="Microsoft JhengHei"/>
                        </a:rPr>
                        <a:t>DESeq2: condition</a:t>
                      </a:r>
                    </a:p>
                    <a:p>
                      <a:r>
                        <a:rPr sz="1500">
                          <a:solidFill>
                            <a:srgbClr val="142F43"/>
                          </a:solidFill>
                          <a:latin typeface="Microsoft JhengHei"/>
                          <a:ea typeface="Microsoft JhengHei"/>
                          <a:cs typeface="Microsoft JhengHei"/>
                        </a:rPr>
                        <a:t>R2S5b_DN vs R2b_DN</a:t>
                      </a:r>
                    </a:p>
                    <a:p>
                      <a:r>
                        <a:rPr sz="1500">
                          <a:solidFill>
                            <a:srgbClr val="142F43"/>
                          </a:solidFill>
                          <a:latin typeface="Microsoft JhengHei"/>
                          <a:ea typeface="Microsoft JhengHei"/>
                          <a:cs typeface="Microsoft JhengHei"/>
                        </a:rPr>
                        <a:t>Positive = N642H higher</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FE3F7C41-9030-4A5E-BC00-4EB725F4DE5B}"/>
              </a:ext>
            </a:extLst>
          </p:cNvPr>
          <p:cNvSpPr>
            <a:spLocks xmlns:a="http://schemas.openxmlformats.org/drawingml/2006/main" noGrp="1"/>
          </p:cNvSpPr>
          <p:nvPr/>
        </p:nvSpPr>
        <p:spPr>
          <a:xfrm xmlns:a="http://schemas.openxmlformats.org/drawingml/2006/main">
            <a:off x="619125" y="53816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42F43"/>
                </a:solidFill>
                <a:latin typeface="Microsoft JhengHei"/>
                <a:ea typeface="Microsoft JhengHei"/>
                <a:cs typeface="Microsoft JhengHei"/>
              </a:defRPr>
            </a:pPr>
            <a:r>
              <a:rPr sz="1800" b="1">
                <a:solidFill>
                  <a:srgbClr val="142F43"/>
                </a:solidFill>
                <a:latin typeface="Microsoft JhengHei"/>
                <a:ea typeface="Microsoft JhengHei"/>
                <a:cs typeface="Microsoft JhengHei"/>
              </a:rPr>
              <a:t>Single-cell 的 replicate 是病人 sample，不是每一顆 cell。兩组資料不可直接合併成同一模型。</a:t>
            </a:r>
          </a:p>
        </p:txBody>
      </p:sp>
    </p:spTree>
    <p:extLst>
      <p:ext uri="{BB962C8B-B14F-4D97-AF65-F5344CB8AC3E}">
        <p14:creationId xmlns:p14="http://schemas.microsoft.com/office/powerpoint/2010/main" val="17466069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2EFFD0-3ED3-4C20-9308-CAD50DCE249D}"/>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CELL IDENTITY</a:t>
            </a:r>
          </a:p>
        </p:txBody>
      </p:sp>
      <p:sp>
        <p:nvSpPr>
          <p:cNvPr id="2" name="">
            <a:extLst xmlns:a="http://schemas.openxmlformats.org/drawingml/2006/main">
              <a:ext uri="{FF2B5EF4-FFF2-40B4-BE49-F238E27FC236}">
                <a16:creationId xmlns:a16="http://schemas.microsoft.com/office/drawing/2014/main" id="{35742A46-CDDD-4C71-BEB1-D9C33191E6AB}"/>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Cell lineage annotation</a:t>
            </a:r>
          </a:p>
        </p:txBody>
      </p:sp>
      <p:sp>
        <p:nvSpPr>
          <p:cNvPr id="3" name="">
            <a:extLst xmlns:a="http://schemas.openxmlformats.org/drawingml/2006/main">
              <a:ext uri="{FF2B5EF4-FFF2-40B4-BE49-F238E27FC236}">
                <a16:creationId xmlns:a16="http://schemas.microsoft.com/office/drawing/2014/main" id="{8D1E1451-3766-4C8B-962B-F5D8625679A0}"/>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3D90C2EC-5A2C-477D-A288-1C86FE43532C}"/>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03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f887bf8510b4df9"/>
          <a:stretch xmlns:a="http://schemas.openxmlformats.org/drawingml/2006/main"/>
        </p:blipFill>
        <p:spPr>
          <a:xfrm xmlns:a="http://schemas.openxmlformats.org/drawingml/2006/main">
            <a:off x="998811" y="1076325"/>
            <a:ext cx="6479628" cy="5219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F97CBD0-56D7-4ECB-8F05-213E35C6428E}"/>
              </a:ext>
            </a:extLst>
          </p:cNvPr>
          <p:cNvSpPr>
            <a:spLocks xmlns:a="http://schemas.openxmlformats.org/drawingml/2006/main" noGrp="1"/>
          </p:cNvSpPr>
          <p:nvPr/>
        </p:nvSpPr>
        <p:spPr>
          <a:xfrm xmlns:a="http://schemas.openxmlformats.org/drawingml/2006/main">
            <a:off x="8286750" y="13811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42F43"/>
                </a:solidFill>
                <a:latin typeface="Microsoft JhengHei"/>
                <a:ea typeface="Microsoft JhengHei"/>
                <a:cs typeface="Microsoft JhengHei"/>
              </a:defRPr>
            </a:pPr>
            <a:r>
              <a:rPr sz="1875" b="1">
                <a:solidFill>
                  <a:srgbClr val="142F43"/>
                </a:solidFill>
                <a:latin typeface="Microsoft JhengHei"/>
                <a:ea typeface="Microsoft JhengHei"/>
                <a:cs typeface="Microsoft JhengHei"/>
              </a:rPr>
              <a:t>先保留 marker 支持的廣義分類</a:t>
            </a:r>
          </a:p>
        </p:txBody>
      </p:sp>
      <p:sp>
        <p:nvSpPr>
          <p:cNvPr id="7" name="">
            <a:extLst xmlns:a="http://schemas.openxmlformats.org/drawingml/2006/main">
              <a:ext uri="{FF2B5EF4-FFF2-40B4-BE49-F238E27FC236}">
                <a16:creationId xmlns:a16="http://schemas.microsoft.com/office/drawing/2014/main" id="{F2403FA0-6497-4977-AEB8-959EB9B56E7D}"/>
              </a:ext>
            </a:extLst>
          </p:cNvPr>
          <p:cNvSpPr>
            <a:spLocks xmlns:a="http://schemas.openxmlformats.org/drawingml/2006/main" noGrp="1"/>
          </p:cNvSpPr>
          <p:nvPr/>
        </p:nvSpPr>
        <p:spPr>
          <a:xfrm xmlns:a="http://schemas.openxmlformats.org/drawingml/2006/main">
            <a:off x="8334375" y="2381250"/>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142F43"/>
                </a:solidFill>
                <a:latin typeface="Microsoft JhengHei"/>
                <a:ea typeface="Microsoft JhengHei"/>
                <a:cs typeface="Microsoft JhengHei"/>
              </a:defRPr>
            </a:pPr>
            <a:r>
              <a:rPr sz="1650" b="0">
                <a:solidFill>
                  <a:srgbClr val="142F43"/>
                </a:solidFill>
                <a:latin typeface="Microsoft JhengHei"/>
                <a:ea typeface="Microsoft JhengHei"/>
                <a:cs typeface="Microsoft JhengHei"/>
              </a:rPr>
              <a:t>T-lineage candidate</a:t>
            </a:r>
          </a:p>
          <a:p xmlns:a="http://schemas.openxmlformats.org/drawingml/2006/main">
            <a:pPr>
              <a:defRPr sz="1650" b="0">
                <a:solidFill>
                  <a:srgbClr val="142F43"/>
                </a:solidFill>
                <a:latin typeface="Microsoft JhengHei"/>
                <a:ea typeface="Microsoft JhengHei"/>
                <a:cs typeface="Microsoft JhengHei"/>
              </a:defRPr>
            </a:pPr>
            <a:r>
              <a:rPr sz="1650" b="0">
                <a:solidFill>
                  <a:srgbClr val="142F43"/>
                </a:solidFill>
                <a:latin typeface="Microsoft JhengHei"/>
                <a:ea typeface="Microsoft JhengHei"/>
                <a:cs typeface="Microsoft JhengHei"/>
              </a:rPr>
              <a:t>B cell / myeloid / pDC</a:t>
            </a:r>
          </a:p>
          <a:p xmlns:a="http://schemas.openxmlformats.org/drawingml/2006/main">
            <a:pPr>
              <a:defRPr sz="1650" b="0">
                <a:solidFill>
                  <a:srgbClr val="142F43"/>
                </a:solidFill>
                <a:latin typeface="Microsoft JhengHei"/>
                <a:ea typeface="Microsoft JhengHei"/>
                <a:cs typeface="Microsoft JhengHei"/>
              </a:defRPr>
            </a:pPr>
            <a:r>
              <a:rPr sz="1650" b="0">
                <a:solidFill>
                  <a:srgbClr val="142F43"/>
                </a:solidFill>
                <a:latin typeface="Microsoft JhengHei"/>
                <a:ea typeface="Microsoft JhengHei"/>
                <a:cs typeface="Microsoft JhengHei"/>
              </a:rPr>
              <a:t>Erythroid</a:t>
            </a:r>
          </a:p>
          <a:p xmlns:a="http://schemas.openxmlformats.org/drawingml/2006/main">
            <a:pPr>
              <a:defRPr sz="1650" b="0">
                <a:solidFill>
                  <a:srgbClr val="142F43"/>
                </a:solidFill>
                <a:latin typeface="Microsoft JhengHei"/>
                <a:ea typeface="Microsoft JhengHei"/>
                <a:cs typeface="Microsoft JhengHei"/>
              </a:defRPr>
            </a:pPr>
            <a:r>
              <a:rPr sz="1650" b="0">
                <a:solidFill>
                  <a:srgbClr val="142F43"/>
                </a:solidFill>
                <a:latin typeface="Microsoft JhengHei"/>
                <a:ea typeface="Microsoft JhengHei"/>
                <a:cs typeface="Microsoft JhengHei"/>
              </a:rPr>
              <a:t>Cytotoxic T/NK</a:t>
            </a:r>
          </a:p>
        </p:txBody>
      </p:sp>
      <p:sp>
        <p:nvSpPr>
          <p:cNvPr id="8" name="">
            <a:extLst xmlns:a="http://schemas.openxmlformats.org/drawingml/2006/main">
              <a:ext uri="{FF2B5EF4-FFF2-40B4-BE49-F238E27FC236}">
                <a16:creationId xmlns:a16="http://schemas.microsoft.com/office/drawing/2014/main" id="{C269F287-AA46-47F5-973D-5B8E27F1CE85}"/>
              </a:ext>
            </a:extLst>
          </p:cNvPr>
          <p:cNvSpPr>
            <a:spLocks xmlns:a="http://schemas.openxmlformats.org/drawingml/2006/main" noGrp="1"/>
          </p:cNvSpPr>
          <p:nvPr/>
        </p:nvSpPr>
        <p:spPr>
          <a:xfrm xmlns:a="http://schemas.openxmlformats.org/drawingml/2006/main">
            <a:off x="8334375" y="4381500"/>
            <a:ext cx="314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D55E00"/>
                </a:solidFill>
                <a:latin typeface="Microsoft JhengHei"/>
                <a:ea typeface="Microsoft JhengHei"/>
                <a:cs typeface="Microsoft JhengHei"/>
              </a:defRPr>
            </a:pPr>
            <a:r>
              <a:rPr sz="1650" b="0">
                <a:solidFill>
                  <a:srgbClr val="D55E00"/>
                </a:solidFill>
                <a:latin typeface="Microsoft JhengHei"/>
                <a:ea typeface="Microsoft JhengHei"/>
                <a:cs typeface="Microsoft JhengHei"/>
              </a:rPr>
              <a:t>HSC-like、quiescent 或 ER-stress 是待驗證的細胞狀態，不直接當成確定的 T-ALL subtype。</a:t>
            </a:r>
          </a:p>
        </p:txBody>
      </p:sp>
    </p:spTree>
    <p:extLst>
      <p:ext uri="{BB962C8B-B14F-4D97-AF65-F5344CB8AC3E}">
        <p14:creationId xmlns:p14="http://schemas.microsoft.com/office/powerpoint/2010/main" val="20818316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D139C2-4C65-49A6-8BA7-34EC8EBBB884}"/>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ANNOTATION EVIDENCE</a:t>
            </a:r>
          </a:p>
        </p:txBody>
      </p:sp>
      <p:sp>
        <p:nvSpPr>
          <p:cNvPr id="2" name="">
            <a:extLst xmlns:a="http://schemas.openxmlformats.org/drawingml/2006/main">
              <a:ext uri="{FF2B5EF4-FFF2-40B4-BE49-F238E27FC236}">
                <a16:creationId xmlns:a16="http://schemas.microsoft.com/office/drawing/2014/main" id="{025DA2B0-229A-4D39-A4DD-4F88E3DF327B}"/>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每個 cluster 的 marker 證據</a:t>
            </a:r>
          </a:p>
        </p:txBody>
      </p:sp>
      <p:sp>
        <p:nvSpPr>
          <p:cNvPr id="3" name="">
            <a:extLst xmlns:a="http://schemas.openxmlformats.org/drawingml/2006/main">
              <a:ext uri="{FF2B5EF4-FFF2-40B4-BE49-F238E27FC236}">
                <a16:creationId xmlns:a16="http://schemas.microsoft.com/office/drawing/2014/main" id="{CA2BF45E-2778-45B2-9F0B-CF0AA79959FC}"/>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421B622F-DA73-4E1C-A2AB-EDA6538E8664}"/>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04</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066eb65f81a4bc7"/>
          <a:stretch xmlns:a="http://schemas.openxmlformats.org/drawingml/2006/main"/>
        </p:blipFill>
        <p:spPr>
          <a:xfrm xmlns:a="http://schemas.openxmlformats.org/drawingml/2006/main">
            <a:off x="1676256" y="1123950"/>
            <a:ext cx="8839489" cy="4667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03D4FF8-74B0-420A-BB88-671EFFB5804E}"/>
              </a:ext>
            </a:extLst>
          </p:cNvPr>
          <p:cNvSpPr>
            <a:spLocks xmlns:a="http://schemas.openxmlformats.org/drawingml/2006/main" noGrp="1"/>
          </p:cNvSpPr>
          <p:nvPr/>
        </p:nvSpPr>
        <p:spPr>
          <a:xfrm xmlns:a="http://schemas.openxmlformats.org/drawingml/2006/main">
            <a:off x="571500" y="5924550"/>
            <a:ext cx="1104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142F43"/>
                </a:solidFill>
                <a:latin typeface="Microsoft JhengHei"/>
                <a:ea typeface="Microsoft JhengHei"/>
                <a:cs typeface="Microsoft JhengHei"/>
              </a:defRPr>
            </a:pPr>
            <a:r>
              <a:rPr sz="1500" b="0">
                <a:solidFill>
                  <a:srgbClr val="142F43"/>
                </a:solidFill>
                <a:latin typeface="Microsoft JhengHei"/>
                <a:ea typeface="Microsoft JhengHei"/>
                <a:cs typeface="Microsoft JhengHei"/>
              </a:rPr>
              <a:t>大小 = 表達細胞比例；顏色 = 同一基因跨 cluster 的平均表達。先辨 lineage，再另外判斷 CNV-high。</a:t>
            </a:r>
          </a:p>
        </p:txBody>
      </p:sp>
    </p:spTree>
    <p:extLst>
      <p:ext uri="{BB962C8B-B14F-4D97-AF65-F5344CB8AC3E}">
        <p14:creationId xmlns:p14="http://schemas.microsoft.com/office/powerpoint/2010/main" val="25310385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95842B-F7C2-4BEB-9168-C2F09ACD6E33}"/>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ANALYSIS DEFINITIONS</a:t>
            </a:r>
          </a:p>
        </p:txBody>
      </p:sp>
      <p:sp>
        <p:nvSpPr>
          <p:cNvPr id="2" name="">
            <a:extLst xmlns:a="http://schemas.openxmlformats.org/drawingml/2006/main">
              <a:ext uri="{FF2B5EF4-FFF2-40B4-BE49-F238E27FC236}">
                <a16:creationId xmlns:a16="http://schemas.microsoft.com/office/drawing/2014/main" id="{FEA8F80D-D2FD-4F86-AF34-BE98268E63C3}"/>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CNV 篩選與 paired pseudobulk</a:t>
            </a:r>
          </a:p>
        </p:txBody>
      </p:sp>
      <p:sp>
        <p:nvSpPr>
          <p:cNvPr id="3" name="">
            <a:extLst xmlns:a="http://schemas.openxmlformats.org/drawingml/2006/main">
              <a:ext uri="{FF2B5EF4-FFF2-40B4-BE49-F238E27FC236}">
                <a16:creationId xmlns:a16="http://schemas.microsoft.com/office/drawing/2014/main" id="{E16E5AAD-8F8C-44C4-9FDF-D30005145481}"/>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5A3B87DF-703D-4A68-B2D0-A3FE191AC092}"/>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05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87bd4cac309448f"/>
          <a:stretch xmlns:a="http://schemas.openxmlformats.org/drawingml/2006/main"/>
        </p:blipFill>
        <p:spPr>
          <a:xfrm xmlns:a="http://schemas.openxmlformats.org/drawingml/2006/main">
            <a:off x="557561" y="1066800"/>
            <a:ext cx="7266878" cy="4381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0D45C38-D371-4F84-AA82-E88270D5FA9A}"/>
              </a:ext>
            </a:extLst>
          </p:cNvPr>
          <p:cNvSpPr>
            <a:spLocks xmlns:a="http://schemas.openxmlformats.org/drawingml/2006/main" noGrp="1"/>
          </p:cNvSpPr>
          <p:nvPr/>
        </p:nvSpPr>
        <p:spPr>
          <a:xfrm xmlns:a="http://schemas.openxmlformats.org/drawingml/2006/main">
            <a:off x="8143875" y="1428750"/>
            <a:ext cx="3524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142F43"/>
                </a:solidFill>
                <a:latin typeface="Microsoft JhengHei"/>
                <a:ea typeface="Microsoft JhengHei"/>
                <a:cs typeface="Microsoft JhengHei"/>
              </a:defRPr>
            </a:pPr>
            <a:r>
              <a:rPr sz="1650" b="1">
                <a:solidFill>
                  <a:srgbClr val="142F43"/>
                </a:solidFill>
                <a:latin typeface="Microsoft JhengHei"/>
                <a:ea typeface="Microsoft JhengHei"/>
                <a:cs typeface="Microsoft JhengHei"/>
              </a:rPr>
              <a:t>主分析：within-sample top 15%</a:t>
            </a:r>
          </a:p>
          <a:p xmlns:a="http://schemas.openxmlformats.org/drawingml/2006/main">
            <a:pPr>
              <a:defRPr sz="1650" b="1">
                <a:solidFill>
                  <a:srgbClr val="142F43"/>
                </a:solidFill>
                <a:latin typeface="Microsoft JhengHei"/>
                <a:ea typeface="Microsoft JhengHei"/>
                <a:cs typeface="Microsoft JhengHei"/>
              </a:defRPr>
            </a:pPr>
            <a:r>
              <a:rPr sz="1650" b="1">
                <a:solidFill>
                  <a:srgbClr val="142F43"/>
                </a:solidFill>
                <a:latin typeface="Microsoft JhengHei"/>
                <a:ea typeface="Microsoft JhengHei"/>
                <a:cs typeface="Microsoft JhengHei"/>
              </a:rPr>
              <a:t>1,926 cells，最小 sample 107</a:t>
            </a:r>
          </a:p>
        </p:txBody>
      </p:sp>
      <p:sp>
        <p:nvSpPr>
          <p:cNvPr id="7" name="">
            <a:extLst xmlns:a="http://schemas.openxmlformats.org/drawingml/2006/main">
              <a:ext uri="{FF2B5EF4-FFF2-40B4-BE49-F238E27FC236}">
                <a16:creationId xmlns:a16="http://schemas.microsoft.com/office/drawing/2014/main" id="{B4579F57-71CA-4AB7-BED1-A65C0CC8D185}"/>
              </a:ext>
            </a:extLst>
          </p:cNvPr>
          <p:cNvSpPr>
            <a:spLocks xmlns:a="http://schemas.openxmlformats.org/drawingml/2006/main" noGrp="1"/>
          </p:cNvSpPr>
          <p:nvPr/>
        </p:nvSpPr>
        <p:spPr>
          <a:xfrm xmlns:a="http://schemas.openxmlformats.org/drawingml/2006/main">
            <a:off x="8143875" y="29051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142F43"/>
                </a:solidFill>
                <a:latin typeface="Microsoft JhengHei"/>
                <a:ea typeface="Microsoft JhengHei"/>
                <a:cs typeface="Microsoft JhengHei"/>
              </a:defRPr>
            </a:pPr>
            <a:r>
              <a:rPr sz="1650" b="0">
                <a:solidFill>
                  <a:srgbClr val="142F43"/>
                </a:solidFill>
                <a:latin typeface="Microsoft JhengHei"/>
                <a:ea typeface="Microsoft JhengHei"/>
                <a:cs typeface="Microsoft JhengHei"/>
              </a:rPr>
              <a:t>Non-T reference q95 = 0.0269</a:t>
            </a:r>
          </a:p>
          <a:p xmlns:a="http://schemas.openxmlformats.org/drawingml/2006/main">
            <a:pPr>
              <a:defRPr sz="1650" b="0">
                <a:solidFill>
                  <a:srgbClr val="142F43"/>
                </a:solidFill>
                <a:latin typeface="Microsoft JhengHei"/>
                <a:ea typeface="Microsoft JhengHei"/>
                <a:cs typeface="Microsoft JhengHei"/>
              </a:defRPr>
            </a:pPr>
            <a:r>
              <a:rPr sz="1650" b="0">
                <a:solidFill>
                  <a:srgbClr val="142F43"/>
                </a:solidFill>
                <a:latin typeface="Microsoft JhengHei"/>
                <a:ea typeface="Microsoft JhengHei"/>
                <a:cs typeface="Microsoft JhengHei"/>
              </a:rPr>
              <a:t>全體候選 T 細胞有 15.4% 高於此值</a:t>
            </a:r>
          </a:p>
        </p:txBody>
      </p:sp>
      <p:sp>
        <p:nvSpPr>
          <p:cNvPr id="8" name="">
            <a:extLst xmlns:a="http://schemas.openxmlformats.org/drawingml/2006/main">
              <a:ext uri="{FF2B5EF4-FFF2-40B4-BE49-F238E27FC236}">
                <a16:creationId xmlns:a16="http://schemas.microsoft.com/office/drawing/2014/main" id="{860A2576-0D4A-4D52-9891-50C6C1BFA89C}"/>
              </a:ext>
            </a:extLst>
          </p:cNvPr>
          <p:cNvSpPr>
            <a:spLocks xmlns:a="http://schemas.openxmlformats.org/drawingml/2006/main" noGrp="1"/>
          </p:cNvSpPr>
          <p:nvPr/>
        </p:nvSpPr>
        <p:spPr>
          <a:xfrm xmlns:a="http://schemas.openxmlformats.org/drawingml/2006/main">
            <a:off x="8143875" y="4333875"/>
            <a:ext cx="3524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42F43"/>
                </a:solidFill>
                <a:latin typeface="Microsoft JhengHei"/>
                <a:ea typeface="Microsoft JhengHei"/>
                <a:cs typeface="Microsoft JhengHei"/>
              </a:defRPr>
            </a:pPr>
            <a:r>
              <a:rPr sz="1575" b="0">
                <a:solidFill>
                  <a:srgbClr val="142F43"/>
                </a:solidFill>
                <a:latin typeface="Microsoft JhengHei"/>
                <a:ea typeface="Microsoft JhengHei"/>
                <a:cs typeface="Microsoft JhengHei"/>
              </a:rPr>
              <a:t>~ patient_pair + condition</a:t>
            </a:r>
          </a:p>
          <a:p xmlns:a="http://schemas.openxmlformats.org/drawingml/2006/main">
            <a:pPr>
              <a:defRPr sz="1575" b="0">
                <a:solidFill>
                  <a:srgbClr val="142F43"/>
                </a:solidFill>
                <a:latin typeface="Microsoft JhengHei"/>
                <a:ea typeface="Microsoft JhengHei"/>
                <a:cs typeface="Microsoft JhengHei"/>
              </a:defRPr>
            </a:pPr>
            <a:r>
              <a:rPr sz="1575" b="0">
                <a:solidFill>
                  <a:srgbClr val="142F43"/>
                </a:solidFill>
                <a:latin typeface="Microsoft JhengHei"/>
                <a:ea typeface="Microsoft JhengHei"/>
                <a:cs typeface="Microsoft JhengHei"/>
              </a:rPr>
              <a:t>以 condition coefficient 排名</a:t>
            </a:r>
          </a:p>
          <a:p xmlns:a="http://schemas.openxmlformats.org/drawingml/2006/main">
            <a:pPr>
              <a:defRPr sz="1575" b="0">
                <a:solidFill>
                  <a:srgbClr val="142F43"/>
                </a:solidFill>
                <a:latin typeface="Microsoft JhengHei"/>
                <a:ea typeface="Microsoft JhengHei"/>
                <a:cs typeface="Microsoft JhengHei"/>
              </a:defRPr>
            </a:pPr>
            <a:r>
              <a:rPr sz="1575" b="0">
                <a:solidFill>
                  <a:srgbClr val="142F43"/>
                </a:solidFill>
                <a:latin typeface="Microsoft JhengHei"/>
                <a:ea typeface="Microsoft JhengHei"/>
                <a:cs typeface="Microsoft JhengHei"/>
              </a:rPr>
              <a:t>GSEA: sign(logFC) × √F</a:t>
            </a:r>
          </a:p>
        </p:txBody>
      </p:sp>
      <p:sp>
        <p:nvSpPr>
          <p:cNvPr id="9" name="">
            <a:extLst xmlns:a="http://schemas.openxmlformats.org/drawingml/2006/main">
              <a:ext uri="{FF2B5EF4-FFF2-40B4-BE49-F238E27FC236}">
                <a16:creationId xmlns:a16="http://schemas.microsoft.com/office/drawing/2014/main" id="{6809B340-5968-4508-9DA8-1CCDF8CCF0D2}"/>
              </a:ext>
            </a:extLst>
          </p:cNvPr>
          <p:cNvSpPr>
            <a:spLocks xmlns:a="http://schemas.openxmlformats.org/drawingml/2006/main" noGrp="1"/>
          </p:cNvSpPr>
          <p:nvPr/>
        </p:nvSpPr>
        <p:spPr>
          <a:xfrm xmlns:a="http://schemas.openxmlformats.org/drawingml/2006/main">
            <a:off x="571500" y="5762625"/>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D55E00"/>
                </a:solidFill>
                <a:latin typeface="Microsoft JhengHei"/>
                <a:ea typeface="Microsoft JhengHei"/>
                <a:cs typeface="Microsoft JhengHei"/>
              </a:defRPr>
            </a:pPr>
            <a:r>
              <a:rPr sz="1650" b="0">
                <a:solidFill>
                  <a:srgbClr val="D55E00"/>
                </a:solidFill>
                <a:latin typeface="Microsoft JhengHei"/>
                <a:ea typeface="Microsoft JhengHei"/>
                <a:cs typeface="Microsoft JhengHei"/>
              </a:rPr>
              <a:t>每個 sample 固定取 15%，無法用保留比例來證明 relapse 的 malignant population 增加。</a:t>
            </a:r>
          </a:p>
        </p:txBody>
      </p:sp>
    </p:spTree>
    <p:extLst>
      <p:ext uri="{BB962C8B-B14F-4D97-AF65-F5344CB8AC3E}">
        <p14:creationId xmlns:p14="http://schemas.microsoft.com/office/powerpoint/2010/main" val="8859408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C21A11-1AA6-4741-9CBC-5EE1B6E0903C}"/>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DISCOVERY</a:t>
            </a:r>
          </a:p>
        </p:txBody>
      </p:sp>
      <p:sp>
        <p:nvSpPr>
          <p:cNvPr id="2" name="">
            <a:extLst xmlns:a="http://schemas.openxmlformats.org/drawingml/2006/main">
              <a:ext uri="{FF2B5EF4-FFF2-40B4-BE49-F238E27FC236}">
                <a16:creationId xmlns:a16="http://schemas.microsoft.com/office/drawing/2014/main" id="{23305B07-191A-4A55-AE6C-282CBCDA3D70}"/>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Single-cell：完整 KEGG enrichment 概覽</a:t>
            </a:r>
          </a:p>
        </p:txBody>
      </p:sp>
      <p:sp>
        <p:nvSpPr>
          <p:cNvPr id="3" name="">
            <a:extLst xmlns:a="http://schemas.openxmlformats.org/drawingml/2006/main">
              <a:ext uri="{FF2B5EF4-FFF2-40B4-BE49-F238E27FC236}">
                <a16:creationId xmlns:a16="http://schemas.microsoft.com/office/drawing/2014/main" id="{B9D24181-6075-4B2F-8A0F-EC83AAAC963C}"/>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745B384F-7D3A-4690-AE9F-AEEAF408CD5F}"/>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06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a7da34f50fb4169"/>
          <a:stretch xmlns:a="http://schemas.openxmlformats.org/drawingml/2006/main"/>
        </p:blipFill>
        <p:spPr>
          <a:xfrm xmlns:a="http://schemas.openxmlformats.org/drawingml/2006/main">
            <a:off x="333375" y="1190625"/>
            <a:ext cx="9429750"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1F56B0A-5F87-4F3E-8795-4D77BC0D82F2}"/>
              </a:ext>
            </a:extLst>
          </p:cNvPr>
          <p:cNvSpPr>
            <a:spLocks xmlns:a="http://schemas.openxmlformats.org/drawingml/2006/main" noGrp="1"/>
          </p:cNvSpPr>
          <p:nvPr/>
        </p:nvSpPr>
        <p:spPr>
          <a:xfrm xmlns:a="http://schemas.openxmlformats.org/drawingml/2006/main">
            <a:off x="9763125" y="1809750"/>
            <a:ext cx="2095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42F43"/>
                </a:solidFill>
                <a:latin typeface="Microsoft JhengHei"/>
                <a:ea typeface="Microsoft JhengHei"/>
                <a:cs typeface="Microsoft JhengHei"/>
              </a:defRPr>
            </a:pPr>
            <a:r>
              <a:rPr sz="1800" b="1">
                <a:solidFill>
                  <a:srgbClr val="142F43"/>
                </a:solidFill>
                <a:latin typeface="Microsoft JhengHei"/>
                <a:ea typeface="Microsoft JhengHei"/>
                <a:cs typeface="Microsoft JhengHei"/>
              </a:rPr>
              <a:t>FDR &lt; 0.05</a:t>
            </a:r>
          </a:p>
          <a:p xmlns:a="http://schemas.openxmlformats.org/drawingml/2006/main">
            <a:r>
              <a:t/>
            </a:r>
          </a:p>
          <a:p xmlns:a="http://schemas.openxmlformats.org/drawingml/2006/main">
            <a:pPr>
              <a:defRPr sz="1800" b="1">
                <a:solidFill>
                  <a:srgbClr val="142F43"/>
                </a:solidFill>
                <a:latin typeface="Microsoft JhengHei"/>
                <a:ea typeface="Microsoft JhengHei"/>
                <a:cs typeface="Microsoft JhengHei"/>
              </a:defRPr>
            </a:pPr>
            <a:r>
              <a:rPr sz="1800" b="1">
                <a:solidFill>
                  <a:srgbClr val="142F43"/>
                </a:solidFill>
                <a:latin typeface="Microsoft JhengHei"/>
                <a:ea typeface="Microsoft JhengHei"/>
                <a:cs typeface="Microsoft JhengHei"/>
              </a:rPr>
              <a:t>上調 61 條</a:t>
            </a:r>
          </a:p>
          <a:p xmlns:a="http://schemas.openxmlformats.org/drawingml/2006/main">
            <a:pPr>
              <a:defRPr sz="1800" b="1">
                <a:solidFill>
                  <a:srgbClr val="142F43"/>
                </a:solidFill>
                <a:latin typeface="Microsoft JhengHei"/>
                <a:ea typeface="Microsoft JhengHei"/>
                <a:cs typeface="Microsoft JhengHei"/>
              </a:defRPr>
            </a:pPr>
            <a:r>
              <a:rPr sz="1800" b="1">
                <a:solidFill>
                  <a:srgbClr val="142F43"/>
                </a:solidFill>
                <a:latin typeface="Microsoft JhengHei"/>
                <a:ea typeface="Microsoft JhengHei"/>
                <a:cs typeface="Microsoft JhengHei"/>
              </a:rPr>
              <a:t>下調 2 條</a:t>
            </a:r>
          </a:p>
        </p:txBody>
      </p:sp>
      <p:sp>
        <p:nvSpPr>
          <p:cNvPr id="7" name="">
            <a:extLst xmlns:a="http://schemas.openxmlformats.org/drawingml/2006/main">
              <a:ext uri="{FF2B5EF4-FFF2-40B4-BE49-F238E27FC236}">
                <a16:creationId xmlns:a16="http://schemas.microsoft.com/office/drawing/2014/main" id="{1201CD0A-77B3-4C9D-B967-B8CD68C0F4B4}"/>
              </a:ext>
            </a:extLst>
          </p:cNvPr>
          <p:cNvSpPr>
            <a:spLocks xmlns:a="http://schemas.openxmlformats.org/drawingml/2006/main" noGrp="1"/>
          </p:cNvSpPr>
          <p:nvPr/>
        </p:nvSpPr>
        <p:spPr>
          <a:xfrm xmlns:a="http://schemas.openxmlformats.org/drawingml/2006/main">
            <a:off x="9763125" y="4095750"/>
            <a:ext cx="2095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42F43"/>
                </a:solidFill>
                <a:latin typeface="Microsoft JhengHei"/>
                <a:ea typeface="Microsoft JhengHei"/>
                <a:cs typeface="Microsoft JhengHei"/>
              </a:defRPr>
            </a:pPr>
            <a:r>
              <a:rPr sz="1575" b="0">
                <a:solidFill>
                  <a:srgbClr val="142F43"/>
                </a:solidFill>
                <a:latin typeface="Microsoft JhengHei"/>
                <a:ea typeface="Microsoft JhengHei"/>
                <a:cs typeface="Microsoft JhengHei"/>
              </a:rPr>
              <a:t>主圖依 FDR 排序。完整結果在 Table04，顯著清單在 Table11。</a:t>
            </a:r>
          </a:p>
        </p:txBody>
      </p:sp>
    </p:spTree>
    <p:extLst>
      <p:ext uri="{BB962C8B-B14F-4D97-AF65-F5344CB8AC3E}">
        <p14:creationId xmlns:p14="http://schemas.microsoft.com/office/powerpoint/2010/main" val="17477075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7A06DA-E801-4929-9415-B09C526CF8EC}"/>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STAT5B PERTURBATION</a:t>
            </a:r>
          </a:p>
        </p:txBody>
      </p:sp>
      <p:sp>
        <p:nvSpPr>
          <p:cNvPr id="2" name="">
            <a:extLst xmlns:a="http://schemas.openxmlformats.org/drawingml/2006/main">
              <a:ext uri="{FF2B5EF4-FFF2-40B4-BE49-F238E27FC236}">
                <a16:creationId xmlns:a16="http://schemas.microsoft.com/office/drawing/2014/main" id="{5B8A9C24-3A69-4C69-9447-7EFBC1785B9E}"/>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Bulk：STAT5B N642H 的完整 KEGG enrichment</a:t>
            </a:r>
          </a:p>
        </p:txBody>
      </p:sp>
      <p:sp>
        <p:nvSpPr>
          <p:cNvPr id="3" name="">
            <a:extLst xmlns:a="http://schemas.openxmlformats.org/drawingml/2006/main">
              <a:ext uri="{FF2B5EF4-FFF2-40B4-BE49-F238E27FC236}">
                <a16:creationId xmlns:a16="http://schemas.microsoft.com/office/drawing/2014/main" id="{B465E2EE-573B-4907-A0C1-165962A4D5BF}"/>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64596B98-24FE-4691-9681-718D715D2F46}"/>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07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85437988e8545aa"/>
          <a:stretch xmlns:a="http://schemas.openxmlformats.org/drawingml/2006/main"/>
        </p:blipFill>
        <p:spPr>
          <a:xfrm xmlns:a="http://schemas.openxmlformats.org/drawingml/2006/main">
            <a:off x="333375" y="1190625"/>
            <a:ext cx="9429750"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E7DED07-E4EB-489C-9063-3C6B6752AEE6}"/>
              </a:ext>
            </a:extLst>
          </p:cNvPr>
          <p:cNvSpPr>
            <a:spLocks xmlns:a="http://schemas.openxmlformats.org/drawingml/2006/main" noGrp="1"/>
          </p:cNvSpPr>
          <p:nvPr/>
        </p:nvSpPr>
        <p:spPr>
          <a:xfrm xmlns:a="http://schemas.openxmlformats.org/drawingml/2006/main">
            <a:off x="9763125" y="1809750"/>
            <a:ext cx="2095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142F43"/>
                </a:solidFill>
                <a:latin typeface="Microsoft JhengHei"/>
                <a:ea typeface="Microsoft JhengHei"/>
                <a:cs typeface="Microsoft JhengHei"/>
              </a:defRPr>
            </a:pPr>
            <a:r>
              <a:rPr sz="1800" b="1">
                <a:solidFill>
                  <a:srgbClr val="142F43"/>
                </a:solidFill>
                <a:latin typeface="Microsoft JhengHei"/>
                <a:ea typeface="Microsoft JhengHei"/>
                <a:cs typeface="Microsoft JhengHei"/>
              </a:rPr>
              <a:t>FDR &lt; 0.05</a:t>
            </a:r>
          </a:p>
          <a:p xmlns:a="http://schemas.openxmlformats.org/drawingml/2006/main">
            <a:r>
              <a:t/>
            </a:r>
          </a:p>
          <a:p xmlns:a="http://schemas.openxmlformats.org/drawingml/2006/main">
            <a:pPr>
              <a:defRPr sz="1800" b="1">
                <a:solidFill>
                  <a:srgbClr val="142F43"/>
                </a:solidFill>
                <a:latin typeface="Microsoft JhengHei"/>
                <a:ea typeface="Microsoft JhengHei"/>
                <a:cs typeface="Microsoft JhengHei"/>
              </a:defRPr>
            </a:pPr>
            <a:r>
              <a:rPr sz="1800" b="1">
                <a:solidFill>
                  <a:srgbClr val="142F43"/>
                </a:solidFill>
                <a:latin typeface="Microsoft JhengHei"/>
                <a:ea typeface="Microsoft JhengHei"/>
                <a:cs typeface="Microsoft JhengHei"/>
              </a:rPr>
              <a:t>上調 107 條</a:t>
            </a:r>
          </a:p>
          <a:p xmlns:a="http://schemas.openxmlformats.org/drawingml/2006/main">
            <a:pPr>
              <a:defRPr sz="1800" b="1">
                <a:solidFill>
                  <a:srgbClr val="142F43"/>
                </a:solidFill>
                <a:latin typeface="Microsoft JhengHei"/>
                <a:ea typeface="Microsoft JhengHei"/>
                <a:cs typeface="Microsoft JhengHei"/>
              </a:defRPr>
            </a:pPr>
            <a:r>
              <a:rPr sz="1800" b="1">
                <a:solidFill>
                  <a:srgbClr val="142F43"/>
                </a:solidFill>
                <a:latin typeface="Microsoft JhengHei"/>
                <a:ea typeface="Microsoft JhengHei"/>
                <a:cs typeface="Microsoft JhengHei"/>
              </a:rPr>
              <a:t>下調 6 條</a:t>
            </a:r>
          </a:p>
        </p:txBody>
      </p:sp>
      <p:sp>
        <p:nvSpPr>
          <p:cNvPr id="7" name="">
            <a:extLst xmlns:a="http://schemas.openxmlformats.org/drawingml/2006/main">
              <a:ext uri="{FF2B5EF4-FFF2-40B4-BE49-F238E27FC236}">
                <a16:creationId xmlns:a16="http://schemas.microsoft.com/office/drawing/2014/main" id="{51FAD001-AB5D-49D7-94E9-22A26DD0866B}"/>
              </a:ext>
            </a:extLst>
          </p:cNvPr>
          <p:cNvSpPr>
            <a:spLocks xmlns:a="http://schemas.openxmlformats.org/drawingml/2006/main" noGrp="1"/>
          </p:cNvSpPr>
          <p:nvPr/>
        </p:nvSpPr>
        <p:spPr>
          <a:xfrm xmlns:a="http://schemas.openxmlformats.org/drawingml/2006/main">
            <a:off x="9763125" y="4095750"/>
            <a:ext cx="2095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42F43"/>
                </a:solidFill>
                <a:latin typeface="Microsoft JhengHei"/>
                <a:ea typeface="Microsoft JhengHei"/>
                <a:cs typeface="Microsoft JhengHei"/>
              </a:defRPr>
            </a:pPr>
            <a:r>
              <a:rPr sz="1575" b="0">
                <a:solidFill>
                  <a:srgbClr val="142F43"/>
                </a:solidFill>
                <a:latin typeface="Microsoft JhengHei"/>
                <a:ea typeface="Microsoft JhengHei"/>
                <a:cs typeface="Microsoft JhengHei"/>
              </a:rPr>
              <a:t>排名來自全部通過基因過濾的 DESeq2 Wald statistics。完整結果在 Table05。</a:t>
            </a:r>
          </a:p>
        </p:txBody>
      </p:sp>
    </p:spTree>
    <p:extLst>
      <p:ext uri="{BB962C8B-B14F-4D97-AF65-F5344CB8AC3E}">
        <p14:creationId xmlns:p14="http://schemas.microsoft.com/office/powerpoint/2010/main" val="355638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C23596-AC53-47A5-AD58-B6A2487AEC63}"/>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CROSS-DATASET OVERLAP</a:t>
            </a:r>
          </a:p>
        </p:txBody>
      </p:sp>
      <p:sp>
        <p:nvSpPr>
          <p:cNvPr id="2" name="">
            <a:extLst xmlns:a="http://schemas.openxmlformats.org/drawingml/2006/main">
              <a:ext uri="{FF2B5EF4-FFF2-40B4-BE49-F238E27FC236}">
                <a16:creationId xmlns:a16="http://schemas.microsoft.com/office/drawing/2014/main" id="{62978758-00D8-49D9-89E7-560B1685C699}"/>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同方向 pathway 交集</a:t>
            </a:r>
          </a:p>
        </p:txBody>
      </p:sp>
      <p:sp>
        <p:nvSpPr>
          <p:cNvPr id="3" name="">
            <a:extLst xmlns:a="http://schemas.openxmlformats.org/drawingml/2006/main">
              <a:ext uri="{FF2B5EF4-FFF2-40B4-BE49-F238E27FC236}">
                <a16:creationId xmlns:a16="http://schemas.microsoft.com/office/drawing/2014/main" id="{1BBCB34D-A970-4539-BA81-E221387B7FEC}"/>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F52C1FCB-D323-4EE6-B32A-DDE399186D1B}"/>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08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08e79115cb349f9"/>
          <a:stretch xmlns:a="http://schemas.openxmlformats.org/drawingml/2006/main"/>
        </p:blipFill>
        <p:spPr>
          <a:xfrm xmlns:a="http://schemas.openxmlformats.org/drawingml/2006/main">
            <a:off x="333375" y="1381125"/>
            <a:ext cx="8763000" cy="4381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F045BC4-7F82-4BD6-8C3F-953DCC74BB45}"/>
              </a:ext>
            </a:extLst>
          </p:cNvPr>
          <p:cNvSpPr>
            <a:spLocks xmlns:a="http://schemas.openxmlformats.org/drawingml/2006/main" noGrp="1"/>
          </p:cNvSpPr>
          <p:nvPr/>
        </p:nvSpPr>
        <p:spPr>
          <a:xfrm xmlns:a="http://schemas.openxmlformats.org/drawingml/2006/main">
            <a:off x="9239250" y="1647825"/>
            <a:ext cx="2571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42F43"/>
                </a:solidFill>
                <a:latin typeface="Microsoft JhengHei"/>
                <a:ea typeface="Microsoft JhengHei"/>
                <a:cs typeface="Microsoft JhengHei"/>
              </a:defRPr>
            </a:pPr>
            <a:r>
              <a:rPr sz="1875" b="1">
                <a:solidFill>
                  <a:srgbClr val="142F43"/>
                </a:solidFill>
                <a:latin typeface="Microsoft JhengHei"/>
                <a:ea typeface="Microsoft JhengHei"/>
                <a:cs typeface="Microsoft JhengHei"/>
              </a:rPr>
              <a:t>Top 15% 與 bulk</a:t>
            </a:r>
          </a:p>
          <a:p xmlns:a="http://schemas.openxmlformats.org/drawingml/2006/main">
            <a:r>
              <a:t/>
            </a:r>
          </a:p>
          <a:p xmlns:a="http://schemas.openxmlformats.org/drawingml/2006/main">
            <a:pPr>
              <a:defRPr sz="1875" b="1">
                <a:solidFill>
                  <a:srgbClr val="142F43"/>
                </a:solidFill>
                <a:latin typeface="Microsoft JhengHei"/>
                <a:ea typeface="Microsoft JhengHei"/>
                <a:cs typeface="Microsoft JhengHei"/>
              </a:defRPr>
            </a:pPr>
            <a:r>
              <a:rPr sz="1875" b="1">
                <a:solidFill>
                  <a:srgbClr val="142F43"/>
                </a:solidFill>
                <a:latin typeface="Microsoft JhengHei"/>
                <a:ea typeface="Microsoft JhengHei"/>
                <a:cs typeface="Microsoft JhengHei"/>
              </a:rPr>
              <a:t>共同上調 40 條</a:t>
            </a:r>
          </a:p>
          <a:p xmlns:a="http://schemas.openxmlformats.org/drawingml/2006/main">
            <a:pPr>
              <a:defRPr sz="1875" b="1">
                <a:solidFill>
                  <a:srgbClr val="142F43"/>
                </a:solidFill>
                <a:latin typeface="Microsoft JhengHei"/>
                <a:ea typeface="Microsoft JhengHei"/>
                <a:cs typeface="Microsoft JhengHei"/>
              </a:defRPr>
            </a:pPr>
            <a:r>
              <a:rPr sz="1875" b="1">
                <a:solidFill>
                  <a:srgbClr val="142F43"/>
                </a:solidFill>
                <a:latin typeface="Microsoft JhengHei"/>
                <a:ea typeface="Microsoft JhengHei"/>
                <a:cs typeface="Microsoft JhengHei"/>
              </a:rPr>
              <a:t>共同下調 0 條</a:t>
            </a:r>
          </a:p>
        </p:txBody>
      </p:sp>
      <p:sp>
        <p:nvSpPr>
          <p:cNvPr id="7" name="">
            <a:extLst xmlns:a="http://schemas.openxmlformats.org/drawingml/2006/main">
              <a:ext uri="{FF2B5EF4-FFF2-40B4-BE49-F238E27FC236}">
                <a16:creationId xmlns:a16="http://schemas.microsoft.com/office/drawing/2014/main" id="{C4770083-A2A1-43CD-A93C-4458E143CABC}"/>
              </a:ext>
            </a:extLst>
          </p:cNvPr>
          <p:cNvSpPr>
            <a:spLocks xmlns:a="http://schemas.openxmlformats.org/drawingml/2006/main" noGrp="1"/>
          </p:cNvSpPr>
          <p:nvPr/>
        </p:nvSpPr>
        <p:spPr>
          <a:xfrm xmlns:a="http://schemas.openxmlformats.org/drawingml/2006/main">
            <a:off x="9239250" y="3857625"/>
            <a:ext cx="2571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142F43"/>
                </a:solidFill>
                <a:latin typeface="Microsoft JhengHei"/>
                <a:ea typeface="Microsoft JhengHei"/>
                <a:cs typeface="Microsoft JhengHei"/>
              </a:defRPr>
            </a:pPr>
            <a:r>
              <a:rPr sz="1575" b="0">
                <a:solidFill>
                  <a:srgbClr val="142F43"/>
                </a:solidFill>
                <a:latin typeface="Microsoft JhengHei"/>
                <a:ea typeface="Microsoft JhengHei"/>
                <a:cs typeface="Microsoft JhengHei"/>
              </a:rPr>
              <a:t>只比較兩邊都測到的 pathway。</a:t>
            </a:r>
          </a:p>
          <a:p xmlns:a="http://schemas.openxmlformats.org/drawingml/2006/main">
            <a:pPr>
              <a:defRPr sz="1575" b="0">
                <a:solidFill>
                  <a:srgbClr val="142F43"/>
                </a:solidFill>
                <a:latin typeface="Microsoft JhengHei"/>
                <a:ea typeface="Microsoft JhengHei"/>
                <a:cs typeface="Microsoft JhengHei"/>
              </a:defRPr>
            </a:pPr>
            <a:r>
              <a:rPr sz="1575" b="0">
                <a:solidFill>
                  <a:srgbClr val="142F43"/>
                </a:solidFill>
                <a:latin typeface="Microsoft JhengHei"/>
                <a:ea typeface="Microsoft JhengHei"/>
                <a:cs typeface="Microsoft JhengHei"/>
              </a:rPr>
              <a:t>兩邊都需 FDR &lt; 0.05，且 NES 同號。</a:t>
            </a:r>
          </a:p>
          <a:p xmlns:a="http://schemas.openxmlformats.org/drawingml/2006/main">
            <a:r>
              <a:t/>
            </a:r>
          </a:p>
          <a:p xmlns:a="http://schemas.openxmlformats.org/drawingml/2006/main">
            <a:pPr>
              <a:defRPr sz="1575" b="0">
                <a:solidFill>
                  <a:srgbClr val="142F43"/>
                </a:solidFill>
                <a:latin typeface="Microsoft JhengHei"/>
                <a:ea typeface="Microsoft JhengHei"/>
                <a:cs typeface="Microsoft JhengHei"/>
              </a:defRPr>
            </a:pPr>
            <a:r>
              <a:rPr sz="1575" b="0">
                <a:solidFill>
                  <a:srgbClr val="142F43"/>
                </a:solidFill>
                <a:latin typeface="Microsoft JhengHei"/>
                <a:ea typeface="Microsoft JhengHei"/>
                <a:cs typeface="Microsoft JhengHei"/>
              </a:rPr>
              <a:t>其他 cutoff 與原始 top 25% 放在補充分析。</a:t>
            </a:r>
          </a:p>
        </p:txBody>
      </p:sp>
    </p:spTree>
    <p:extLst>
      <p:ext uri="{BB962C8B-B14F-4D97-AF65-F5344CB8AC3E}">
        <p14:creationId xmlns:p14="http://schemas.microsoft.com/office/powerpoint/2010/main" val="17533182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A3073F-07BE-4090-80C9-C3AE1D7A2A4B}"/>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SHARED PROGRAMS</a:t>
            </a:r>
          </a:p>
        </p:txBody>
      </p:sp>
      <p:sp>
        <p:nvSpPr>
          <p:cNvPr id="2" name="">
            <a:extLst xmlns:a="http://schemas.openxmlformats.org/drawingml/2006/main">
              <a:ext uri="{FF2B5EF4-FFF2-40B4-BE49-F238E27FC236}">
                <a16:creationId xmlns:a16="http://schemas.microsoft.com/office/drawing/2014/main" id="{55397E30-0ACF-4588-BDEF-DD2B152937BC}"/>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40 條共同上調 pathway：第 1–20 條</a:t>
            </a:r>
          </a:p>
        </p:txBody>
      </p:sp>
      <p:sp>
        <p:nvSpPr>
          <p:cNvPr id="3" name="">
            <a:extLst xmlns:a="http://schemas.openxmlformats.org/drawingml/2006/main">
              <a:ext uri="{FF2B5EF4-FFF2-40B4-BE49-F238E27FC236}">
                <a16:creationId xmlns:a16="http://schemas.microsoft.com/office/drawing/2014/main" id="{A28F24C2-1D3B-49C8-B018-585F776D7281}"/>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56E1B56D-355B-498D-A6E0-2D53D1EAD002}"/>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09</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8f31e469148487b"/>
          <a:stretch xmlns:a="http://schemas.openxmlformats.org/drawingml/2006/main"/>
        </p:blipFill>
        <p:spPr>
          <a:xfrm xmlns:a="http://schemas.openxmlformats.org/drawingml/2006/main">
            <a:off x="996841" y="1028700"/>
            <a:ext cx="10198319"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E85CEC0-0E0D-40E0-AA6E-7AD648E30AD9}"/>
              </a:ext>
            </a:extLst>
          </p:cNvPr>
          <p:cNvSpPr>
            <a:spLocks xmlns:a="http://schemas.openxmlformats.org/drawingml/2006/main" noGrp="1"/>
          </p:cNvSpPr>
          <p:nvPr/>
        </p:nvSpPr>
        <p:spPr>
          <a:xfrm xmlns:a="http://schemas.openxmlformats.org/drawingml/2006/main">
            <a:off x="619125" y="61912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142F43"/>
                </a:solidFill>
                <a:latin typeface="Microsoft JhengHei"/>
                <a:ea typeface="Microsoft JhengHei"/>
                <a:cs typeface="Microsoft JhengHei"/>
              </a:defRPr>
            </a:pPr>
            <a:r>
              <a:rPr sz="1350" b="0">
                <a:solidFill>
                  <a:srgbClr val="142F43"/>
                </a:solidFill>
                <a:latin typeface="Microsoft JhengHei"/>
                <a:ea typeface="Microsoft JhengHei"/>
                <a:cs typeface="Microsoft JhengHei"/>
              </a:rPr>
              <a:t>兩組均 FDR &lt; 0.05。依兩組較大的 FDR 由小到大排列，Proteasome 位於第 14 條。</a:t>
            </a:r>
          </a:p>
        </p:txBody>
      </p:sp>
    </p:spTree>
    <p:extLst>
      <p:ext uri="{BB962C8B-B14F-4D97-AF65-F5344CB8AC3E}">
        <p14:creationId xmlns:p14="http://schemas.microsoft.com/office/powerpoint/2010/main" val="13136280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B68C6F-39DA-4C5D-84E9-236BC4B10207}"/>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SHARED PROGRAMS</a:t>
            </a:r>
          </a:p>
        </p:txBody>
      </p:sp>
      <p:sp>
        <p:nvSpPr>
          <p:cNvPr id="2" name="">
            <a:extLst xmlns:a="http://schemas.openxmlformats.org/drawingml/2006/main">
              <a:ext uri="{FF2B5EF4-FFF2-40B4-BE49-F238E27FC236}">
                <a16:creationId xmlns:a16="http://schemas.microsoft.com/office/drawing/2014/main" id="{D6324B40-36A9-4BE6-AFD8-666BA6DB6A14}"/>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40 條共同上調 pathway：第 21–40 條</a:t>
            </a:r>
          </a:p>
        </p:txBody>
      </p:sp>
      <p:sp>
        <p:nvSpPr>
          <p:cNvPr id="3" name="">
            <a:extLst xmlns:a="http://schemas.openxmlformats.org/drawingml/2006/main">
              <a:ext uri="{FF2B5EF4-FFF2-40B4-BE49-F238E27FC236}">
                <a16:creationId xmlns:a16="http://schemas.microsoft.com/office/drawing/2014/main" id="{BB3E03C9-6ACA-4188-821B-B122D9784C71}"/>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3B9FD18D-C0EE-453D-AAF3-41115C614FB4}"/>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f13a2488b134ddb"/>
          <a:stretch xmlns:a="http://schemas.openxmlformats.org/drawingml/2006/main"/>
        </p:blipFill>
        <p:spPr>
          <a:xfrm xmlns:a="http://schemas.openxmlformats.org/drawingml/2006/main">
            <a:off x="996841" y="1028700"/>
            <a:ext cx="10198319" cy="5143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0C0D155-0303-48E9-BF4A-596ADE902A47}"/>
              </a:ext>
            </a:extLst>
          </p:cNvPr>
          <p:cNvSpPr>
            <a:spLocks xmlns:a="http://schemas.openxmlformats.org/drawingml/2006/main" noGrp="1"/>
          </p:cNvSpPr>
          <p:nvPr/>
        </p:nvSpPr>
        <p:spPr>
          <a:xfrm xmlns:a="http://schemas.openxmlformats.org/drawingml/2006/main">
            <a:off x="619125" y="61912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142F43"/>
                </a:solidFill>
                <a:latin typeface="Microsoft JhengHei"/>
                <a:ea typeface="Microsoft JhengHei"/>
                <a:cs typeface="Microsoft JhengHei"/>
              </a:defRPr>
            </a:pPr>
            <a:r>
              <a:rPr sz="1350" b="0">
                <a:solidFill>
                  <a:srgbClr val="142F43"/>
                </a:solidFill>
                <a:latin typeface="Microsoft JhengHei"/>
                <a:ea typeface="Microsoft JhengHei"/>
                <a:cs typeface="Microsoft JhengHei"/>
              </a:rPr>
              <a:t>Mitophagy 位於第 28 條。Single-cell FDR = 0.0132，bulk FDR = 0.0282。</a:t>
            </a:r>
          </a:p>
        </p:txBody>
      </p:sp>
    </p:spTree>
    <p:extLst>
      <p:ext uri="{BB962C8B-B14F-4D97-AF65-F5344CB8AC3E}">
        <p14:creationId xmlns:p14="http://schemas.microsoft.com/office/powerpoint/2010/main" val="2774035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6B30FF-2729-4C69-9396-106324BDF235}"/>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TARGET PATHWAYS</a:t>
            </a:r>
          </a:p>
        </p:txBody>
      </p:sp>
      <p:sp>
        <p:nvSpPr>
          <p:cNvPr id="2" name="">
            <a:extLst xmlns:a="http://schemas.openxmlformats.org/drawingml/2006/main">
              <a:ext uri="{FF2B5EF4-FFF2-40B4-BE49-F238E27FC236}">
                <a16:creationId xmlns:a16="http://schemas.microsoft.com/office/drawing/2014/main" id="{00C084F3-BB6C-4451-B0AC-27558795469E}"/>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Proteasome 與 mitophagy 的結果核對</a:t>
            </a:r>
          </a:p>
        </p:txBody>
      </p:sp>
      <p:sp>
        <p:nvSpPr>
          <p:cNvPr id="3" name="">
            <a:extLst xmlns:a="http://schemas.openxmlformats.org/drawingml/2006/main">
              <a:ext uri="{FF2B5EF4-FFF2-40B4-BE49-F238E27FC236}">
                <a16:creationId xmlns:a16="http://schemas.microsoft.com/office/drawing/2014/main" id="{3748A753-5A19-477E-AF18-BA98C03AA474}"/>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66933B1F-3AB0-432D-9DA8-DB0618AB7A01}"/>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11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0940254e7024511"/>
          <a:stretch xmlns:a="http://schemas.openxmlformats.org/drawingml/2006/main"/>
        </p:blipFill>
        <p:spPr>
          <a:xfrm xmlns:a="http://schemas.openxmlformats.org/drawingml/2006/main">
            <a:off x="2122289" y="1362075"/>
            <a:ext cx="7947422" cy="42386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C862D8A-B234-4F2C-B33B-8DD322E154BD}"/>
              </a:ext>
            </a:extLst>
          </p:cNvPr>
          <p:cNvSpPr>
            <a:spLocks xmlns:a="http://schemas.openxmlformats.org/drawingml/2006/main" noGrp="1"/>
          </p:cNvSpPr>
          <p:nvPr/>
        </p:nvSpPr>
        <p:spPr>
          <a:xfrm xmlns:a="http://schemas.openxmlformats.org/drawingml/2006/main">
            <a:off x="619125" y="5791200"/>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1">
                <a:solidFill>
                  <a:srgbClr val="D55E00"/>
                </a:solidFill>
                <a:latin typeface="Microsoft JhengHei"/>
                <a:ea typeface="Microsoft JhengHei"/>
                <a:cs typeface="Microsoft JhengHei"/>
              </a:defRPr>
            </a:pPr>
            <a:r>
              <a:rPr sz="1650" b="1">
                <a:solidFill>
                  <a:srgbClr val="D55E00"/>
                </a:solidFill>
                <a:latin typeface="Microsoft JhengHei"/>
                <a:ea typeface="Microsoft JhengHei"/>
                <a:cs typeface="Microsoft JhengHei"/>
              </a:rPr>
              <a:t>Proteasome、mitophagy 均上調，兩組資料的完整 KEGG FDR 都小於 0.05。</a:t>
            </a:r>
          </a:p>
        </p:txBody>
      </p:sp>
    </p:spTree>
    <p:extLst>
      <p:ext uri="{BB962C8B-B14F-4D97-AF65-F5344CB8AC3E}">
        <p14:creationId xmlns:p14="http://schemas.microsoft.com/office/powerpoint/2010/main" val="201573230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D405C7-58F0-4828-A481-378B6FB6375E}"/>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PAIRED DIRECTION</a:t>
            </a:r>
          </a:p>
        </p:txBody>
      </p:sp>
      <p:sp>
        <p:nvSpPr>
          <p:cNvPr id="2" name="">
            <a:extLst xmlns:a="http://schemas.openxmlformats.org/drawingml/2006/main">
              <a:ext uri="{FF2B5EF4-FFF2-40B4-BE49-F238E27FC236}">
                <a16:creationId xmlns:a16="http://schemas.microsoft.com/office/drawing/2014/main" id="{21B07C0C-0727-4A41-A218-E8BA804A4E9D}"/>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三位病人的變化方向</a:t>
            </a:r>
          </a:p>
        </p:txBody>
      </p:sp>
      <p:sp>
        <p:nvSpPr>
          <p:cNvPr id="3" name="">
            <a:extLst xmlns:a="http://schemas.openxmlformats.org/drawingml/2006/main">
              <a:ext uri="{FF2B5EF4-FFF2-40B4-BE49-F238E27FC236}">
                <a16:creationId xmlns:a16="http://schemas.microsoft.com/office/drawing/2014/main" id="{3EF74DD2-9ECB-4CBD-8697-2045CE1B1361}"/>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42CF20D4-6111-4C8A-A3E9-F5BC2BC3C413}"/>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12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8ac20b349324cdc"/>
          <a:stretch xmlns:a="http://schemas.openxmlformats.org/drawingml/2006/main"/>
        </p:blipFill>
        <p:spPr>
          <a:xfrm xmlns:a="http://schemas.openxmlformats.org/drawingml/2006/main">
            <a:off x="445943" y="1190625"/>
            <a:ext cx="8442614" cy="495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E713D2D-A748-4BE5-904D-7AB1EBBF2FE0}"/>
              </a:ext>
            </a:extLst>
          </p:cNvPr>
          <p:cNvSpPr>
            <a:spLocks xmlns:a="http://schemas.openxmlformats.org/drawingml/2006/main" noGrp="1"/>
          </p:cNvSpPr>
          <p:nvPr/>
        </p:nvSpPr>
        <p:spPr>
          <a:xfrm xmlns:a="http://schemas.openxmlformats.org/drawingml/2006/main">
            <a:off x="9239250" y="190500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42F43"/>
                </a:solidFill>
                <a:latin typeface="Microsoft JhengHei"/>
                <a:ea typeface="Microsoft JhengHei"/>
                <a:cs typeface="Microsoft JhengHei"/>
              </a:defRPr>
            </a:pPr>
            <a:r>
              <a:rPr sz="1875" b="1">
                <a:solidFill>
                  <a:srgbClr val="142F43"/>
                </a:solidFill>
                <a:latin typeface="Microsoft JhengHei"/>
                <a:ea typeface="Microsoft JhengHei"/>
                <a:cs typeface="Microsoft JhengHei"/>
              </a:rPr>
              <a:t>每條線是一位病人</a:t>
            </a:r>
          </a:p>
        </p:txBody>
      </p:sp>
      <p:sp>
        <p:nvSpPr>
          <p:cNvPr id="7" name="">
            <a:extLst xmlns:a="http://schemas.openxmlformats.org/drawingml/2006/main">
              <a:ext uri="{FF2B5EF4-FFF2-40B4-BE49-F238E27FC236}">
                <a16:creationId xmlns:a16="http://schemas.microsoft.com/office/drawing/2014/main" id="{CDE05C9B-D62B-464F-B762-AA63394F8EBA}"/>
              </a:ext>
            </a:extLst>
          </p:cNvPr>
          <p:cNvSpPr>
            <a:spLocks xmlns:a="http://schemas.openxmlformats.org/drawingml/2006/main" noGrp="1"/>
          </p:cNvSpPr>
          <p:nvPr/>
        </p:nvSpPr>
        <p:spPr>
          <a:xfrm xmlns:a="http://schemas.openxmlformats.org/drawingml/2006/main">
            <a:off x="9239250" y="2857500"/>
            <a:ext cx="24765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142F43"/>
                </a:solidFill>
                <a:latin typeface="Microsoft JhengHei"/>
                <a:ea typeface="Microsoft JhengHei"/>
                <a:cs typeface="Microsoft JhengHei"/>
              </a:defRPr>
            </a:pPr>
            <a:r>
              <a:rPr sz="1650" b="0">
                <a:solidFill>
                  <a:srgbClr val="142F43"/>
                </a:solidFill>
                <a:latin typeface="Microsoft JhengHei"/>
                <a:ea typeface="Microsoft JhengHei"/>
                <a:cs typeface="Microsoft JhengHei"/>
              </a:rPr>
              <a:t>Leading-edge genes 由同一份 GSEA 選出。</a:t>
            </a:r>
          </a:p>
          <a:p xmlns:a="http://schemas.openxmlformats.org/drawingml/2006/main">
            <a:r>
              <a:t/>
            </a:r>
          </a:p>
          <a:p xmlns:a="http://schemas.openxmlformats.org/drawingml/2006/main">
            <a:pPr>
              <a:defRPr sz="1650" b="0">
                <a:solidFill>
                  <a:srgbClr val="142F43"/>
                </a:solidFill>
                <a:latin typeface="Microsoft JhengHei"/>
                <a:ea typeface="Microsoft JhengHei"/>
                <a:cs typeface="Microsoft JhengHei"/>
              </a:defRPr>
            </a:pPr>
            <a:r>
              <a:rPr sz="1650" b="0">
                <a:solidFill>
                  <a:srgbClr val="142F43"/>
                </a:solidFill>
                <a:latin typeface="Microsoft JhengHei"/>
                <a:ea typeface="Microsoft JhengHei"/>
                <a:cs typeface="Microsoft JhengHei"/>
              </a:rPr>
              <a:t>這裡只描述三位病人的方向，不作額外的獨立驗證。</a:t>
            </a:r>
          </a:p>
        </p:txBody>
      </p:sp>
    </p:spTree>
    <p:extLst>
      <p:ext uri="{BB962C8B-B14F-4D97-AF65-F5344CB8AC3E}">
        <p14:creationId xmlns:p14="http://schemas.microsoft.com/office/powerpoint/2010/main" val="211880554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251D19-D969-4558-BDD7-79BE996D0F0F}"/>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CUTOFF INTERPRETATION</a:t>
            </a:r>
          </a:p>
        </p:txBody>
      </p:sp>
      <p:sp>
        <p:nvSpPr>
          <p:cNvPr id="2" name="">
            <a:extLst xmlns:a="http://schemas.openxmlformats.org/drawingml/2006/main">
              <a:ext uri="{FF2B5EF4-FFF2-40B4-BE49-F238E27FC236}">
                <a16:creationId xmlns:a16="http://schemas.microsoft.com/office/drawing/2014/main" id="{A8AD4FB9-A640-4E10-A444-A0C055EC7AD8}"/>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CNV top 15% 設定與 reference 對照</a:t>
            </a:r>
          </a:p>
        </p:txBody>
      </p:sp>
      <p:sp>
        <p:nvSpPr>
          <p:cNvPr id="3" name="">
            <a:extLst xmlns:a="http://schemas.openxmlformats.org/drawingml/2006/main">
              <a:ext uri="{FF2B5EF4-FFF2-40B4-BE49-F238E27FC236}">
                <a16:creationId xmlns:a16="http://schemas.microsoft.com/office/drawing/2014/main" id="{0E8CD8CB-F197-4DDB-BBB2-8824DB12312D}"/>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44C965A6-62B5-4D1D-9536-169417633032}"/>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13</a:t>
            </a:r>
          </a:p>
        </p:txBody>
      </p:sp>
      <p:sp>
        <p:nvSpPr>
          <p:cNvPr id="5" name="">
            <a:extLst xmlns:a="http://schemas.openxmlformats.org/drawingml/2006/main">
              <a:ext uri="{FF2B5EF4-FFF2-40B4-BE49-F238E27FC236}">
                <a16:creationId xmlns:a16="http://schemas.microsoft.com/office/drawing/2014/main" id="{074173AB-E594-4A1A-AF3C-8E102CC6B6CA}"/>
              </a:ext>
            </a:extLst>
          </p:cNvPr>
          <p:cNvSpPr>
            <a:spLocks xmlns:a="http://schemas.openxmlformats.org/drawingml/2006/main" noGrp="1"/>
          </p:cNvSpPr>
          <p:nvPr/>
        </p:nvSpPr>
        <p:spPr>
          <a:xfrm xmlns:a="http://schemas.openxmlformats.org/drawingml/2006/main">
            <a:off x="590550" y="1381125"/>
            <a:ext cx="1095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00" b="1">
                <a:solidFill>
                  <a:srgbClr val="142F43"/>
                </a:solidFill>
                <a:latin typeface="Microsoft JhengHei"/>
                <a:ea typeface="Microsoft JhengHei"/>
                <a:cs typeface="Microsoft JhengHei"/>
              </a:defRPr>
            </a:pPr>
            <a:r>
              <a:rPr sz="2100" b="1">
                <a:solidFill>
                  <a:srgbClr val="142F43"/>
                </a:solidFill>
                <a:latin typeface="Microsoft JhengHei"/>
                <a:ea typeface="Microsoft JhengHei"/>
                <a:cs typeface="Microsoft JhengHei"/>
              </a:rPr>
              <a:t>每個 sample 保留 CNV score 最高的 15%，作為相對高 CNV 的 T-lineage core</a:t>
            </a:r>
          </a:p>
        </p:txBody>
      </p:sp>
      <p:graphicFrame>
        <p:nvGraphicFramePr>
          <p:cNvPr id="14" name=""/>
          <p:cNvGraphicFramePr/>
          <p:nvPr/>
        </p:nvGraphicFramePr>
        <p:xfrm>
          <a:off xmlns:a="http://schemas.openxmlformats.org/drawingml/2006/main" x="523875" y="2333625"/>
          <a:ext xmlns:a="http://schemas.openxmlformats.org/drawingml/2006/main" cx="11144250" cy="2000250"/>
        </p:xfrm>
        <a:graphic xmlns:a="http://schemas.openxmlformats.org/drawingml/2006/main">
          <a:graphicData uri="http://schemas.openxmlformats.org/drawingml/2006/table">
            <a:tbl>
              <a:tblPr firstRow="1" bandRow="0"/>
              <a:tblGrid>
                <a:gridCol w="2571750"/>
                <a:gridCol w="5476875"/>
                <a:gridCol w="3095625"/>
              </a:tblGrid>
              <a:tr h="419100">
                <a:tc>
                  <a:txBody>
                    <a:bodyPr/>
                    <a:lstStyle/>
                    <a:p>
                      <a:r>
                        <a:rPr sz="1575" b="1">
                          <a:solidFill>
                            <a:srgbClr val="FFFFFF"/>
                          </a:solidFill>
                          <a:latin typeface="Microsoft JhengHei"/>
                          <a:ea typeface="Microsoft JhengHei"/>
                          <a:cs typeface="Microsoft JhengHei"/>
                        </a:rPr>
                        <a:t>規則</a:t>
                      </a:r>
                    </a:p>
                  </a:txBody>
                  <a:tcPr marL="91440" marR="91440" marT="45720" marB="45720">
                    <a:solidFill>
                      <a:srgbClr val="142F43"/>
                    </a:solidFill>
                  </a:tcPr>
                </a:tc>
                <a:tc>
                  <a:txBody>
                    <a:bodyPr/>
                    <a:lstStyle/>
                    <a:p>
                      <a:r>
                        <a:rPr sz="1575" b="1">
                          <a:solidFill>
                            <a:srgbClr val="FFFFFF"/>
                          </a:solidFill>
                          <a:latin typeface="Microsoft JhengHei"/>
                          <a:ea typeface="Microsoft JhengHei"/>
                          <a:cs typeface="Microsoft JhengHei"/>
                        </a:rPr>
                        <a:t>怎麼選</a:t>
                      </a:r>
                    </a:p>
                  </a:txBody>
                  <a:tcPr marL="91440" marR="91440" marT="45720" marB="45720">
                    <a:solidFill>
                      <a:srgbClr val="142F43"/>
                    </a:solidFill>
                  </a:tcPr>
                </a:tc>
                <a:tc>
                  <a:txBody>
                    <a:bodyPr/>
                    <a:lstStyle/>
                    <a:p>
                      <a:r>
                        <a:rPr sz="1575" b="1">
                          <a:solidFill>
                            <a:srgbClr val="FFFFFF"/>
                          </a:solidFill>
                          <a:latin typeface="Microsoft JhengHei"/>
                          <a:ea typeface="Microsoft JhengHei"/>
                          <a:cs typeface="Microsoft JhengHei"/>
                        </a:rPr>
                        <a:t>本次保留</a:t>
                      </a:r>
                    </a:p>
                  </a:txBody>
                  <a:tcPr marL="91440" marR="91440" marT="45720" marB="45720">
                    <a:solidFill>
                      <a:srgbClr val="142F43"/>
                    </a:solidFill>
                  </a:tcPr>
                </a:tc>
              </a:tr>
              <a:tr h="790575">
                <a:tc>
                  <a:txBody>
                    <a:bodyPr/>
                    <a:lstStyle/>
                    <a:p>
                      <a:r>
                        <a:rPr sz="1575">
                          <a:solidFill>
                            <a:srgbClr val="142F43"/>
                          </a:solidFill>
                          <a:latin typeface="Microsoft JhengHei"/>
                          <a:ea typeface="Microsoft JhengHei"/>
                          <a:cs typeface="Microsoft JhengHei"/>
                        </a:rPr>
                        <a:t>主分析：sample top 15%</a:t>
                      </a:r>
                    </a:p>
                  </a:txBody>
                  <a:tcPr marL="91440" marR="91440" marT="45720" marB="45720"/>
                </a:tc>
                <a:tc>
                  <a:txBody>
                    <a:bodyPr/>
                    <a:lstStyle/>
                    <a:p>
                      <a:r>
                        <a:rPr sz="1575">
                          <a:solidFill>
                            <a:srgbClr val="142F43"/>
                          </a:solidFill>
                          <a:latin typeface="Microsoft JhengHei"/>
                          <a:ea typeface="Microsoft JhengHei"/>
                          <a:cs typeface="Microsoft JhengHei"/>
                        </a:rPr>
                        <a:t>每個 sample 各自選 CNV score 最高 15%</a:t>
                      </a:r>
                    </a:p>
                  </a:txBody>
                  <a:tcPr marL="91440" marR="91440" marT="45720" marB="45720"/>
                </a:tc>
                <a:tc>
                  <a:txBody>
                    <a:bodyPr/>
                    <a:lstStyle/>
                    <a:p>
                      <a:r>
                        <a:rPr sz="1575">
                          <a:solidFill>
                            <a:srgbClr val="142F43"/>
                          </a:solidFill>
                          <a:latin typeface="Microsoft JhengHei"/>
                          <a:ea typeface="Microsoft JhengHei"/>
                          <a:cs typeface="Microsoft JhengHei"/>
                        </a:rPr>
                        <a:t>1,926 cells</a:t>
                      </a:r>
                    </a:p>
                    <a:p>
                      <a:r>
                        <a:rPr sz="1575">
                          <a:solidFill>
                            <a:srgbClr val="142F43"/>
                          </a:solidFill>
                          <a:latin typeface="Microsoft JhengHei"/>
                          <a:ea typeface="Microsoft JhengHei"/>
                          <a:cs typeface="Microsoft JhengHei"/>
                        </a:rPr>
                        <a:t>最小 sample 107</a:t>
                      </a:r>
                    </a:p>
                  </a:txBody>
                  <a:tcPr marL="91440" marR="91440" marT="45720" marB="45720"/>
                </a:tc>
              </a:tr>
              <a:tr h="790575">
                <a:tc>
                  <a:txBody>
                    <a:bodyPr/>
                    <a:lstStyle/>
                    <a:p>
                      <a:r>
                        <a:rPr sz="1575">
                          <a:solidFill>
                            <a:srgbClr val="142F43"/>
                          </a:solidFill>
                          <a:latin typeface="Microsoft JhengHei"/>
                          <a:ea typeface="Microsoft JhengHei"/>
                          <a:cs typeface="Microsoft JhengHei"/>
                        </a:rPr>
                        <a:t>Non-T reference q95</a:t>
                      </a:r>
                    </a:p>
                  </a:txBody>
                  <a:tcPr marL="91440" marR="91440" marT="45720" marB="45720"/>
                </a:tc>
                <a:tc>
                  <a:txBody>
                    <a:bodyPr/>
                    <a:lstStyle/>
                    <a:p>
                      <a:r>
                        <a:rPr sz="1575">
                          <a:solidFill>
                            <a:srgbClr val="142F43"/>
                          </a:solidFill>
                          <a:latin typeface="Microsoft JhengHei"/>
                          <a:ea typeface="Microsoft JhengHei"/>
                          <a:cs typeface="Microsoft JhengHei"/>
                        </a:rPr>
                        <a:t>每顆 cell 都與同一數值 0.0269 比較</a:t>
                      </a:r>
                    </a:p>
                  </a:txBody>
                  <a:tcPr marL="91440" marR="91440" marT="45720" marB="45720"/>
                </a:tc>
                <a:tc>
                  <a:txBody>
                    <a:bodyPr/>
                    <a:lstStyle/>
                    <a:p>
                      <a:r>
                        <a:rPr sz="1575">
                          <a:solidFill>
                            <a:srgbClr val="142F43"/>
                          </a:solidFill>
                          <a:latin typeface="Microsoft JhengHei"/>
                          <a:ea typeface="Microsoft JhengHei"/>
                          <a:cs typeface="Microsoft JhengHei"/>
                        </a:rPr>
                        <a:t>1,978 cells</a:t>
                      </a:r>
                    </a:p>
                    <a:p>
                      <a:r>
                        <a:rPr sz="1575">
                          <a:solidFill>
                            <a:srgbClr val="142F43"/>
                          </a:solidFill>
                          <a:latin typeface="Microsoft JhengHei"/>
                          <a:ea typeface="Microsoft JhengHei"/>
                          <a:cs typeface="Microsoft JhengHei"/>
                        </a:rPr>
                        <a:t>最小 sample 66</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484A98C5-D346-4DEC-995B-46AF538B9CBD}"/>
              </a:ext>
            </a:extLst>
          </p:cNvPr>
          <p:cNvSpPr>
            <a:spLocks xmlns:a="http://schemas.openxmlformats.org/drawingml/2006/main" noGrp="1"/>
          </p:cNvSpPr>
          <p:nvPr/>
        </p:nvSpPr>
        <p:spPr>
          <a:xfrm xmlns:a="http://schemas.openxmlformats.org/drawingml/2006/main">
            <a:off x="619125" y="4667250"/>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42F43"/>
                </a:solidFill>
                <a:latin typeface="Microsoft JhengHei"/>
                <a:ea typeface="Microsoft JhengHei"/>
                <a:cs typeface="Microsoft JhengHei"/>
              </a:defRPr>
            </a:pPr>
            <a:r>
              <a:rPr sz="1725" b="0">
                <a:solidFill>
                  <a:srgbClr val="142F43"/>
                </a:solidFill>
                <a:latin typeface="Microsoft JhengHei"/>
                <a:ea typeface="Microsoft JhengHei"/>
                <a:cs typeface="Microsoft JhengHei"/>
              </a:rPr>
              <a:t>Reference q95 提供比例尺度對照。Top 15% 中有 1,407 / 1,926 cells（73.1%）高於 q95，兩種規則選到的細胞並不相同。</a:t>
            </a:r>
          </a:p>
        </p:txBody>
      </p:sp>
      <p:sp>
        <p:nvSpPr>
          <p:cNvPr id="8" name="">
            <a:extLst xmlns:a="http://schemas.openxmlformats.org/drawingml/2006/main">
              <a:ext uri="{FF2B5EF4-FFF2-40B4-BE49-F238E27FC236}">
                <a16:creationId xmlns:a16="http://schemas.microsoft.com/office/drawing/2014/main" id="{879FB4B3-FF87-426C-8557-A879DB63C771}"/>
              </a:ext>
            </a:extLst>
          </p:cNvPr>
          <p:cNvSpPr>
            <a:spLocks xmlns:a="http://schemas.openxmlformats.org/drawingml/2006/main" noGrp="1"/>
          </p:cNvSpPr>
          <p:nvPr/>
        </p:nvSpPr>
        <p:spPr>
          <a:xfrm xmlns:a="http://schemas.openxmlformats.org/drawingml/2006/main">
            <a:off x="619125" y="56483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55E00"/>
                </a:solidFill>
                <a:latin typeface="Microsoft JhengHei"/>
                <a:ea typeface="Microsoft JhengHei"/>
                <a:cs typeface="Microsoft JhengHei"/>
              </a:defRPr>
            </a:pPr>
            <a:r>
              <a:rPr sz="1575" b="0">
                <a:solidFill>
                  <a:srgbClr val="D55E00"/>
                </a:solidFill>
                <a:latin typeface="Microsoft JhengHei"/>
                <a:ea typeface="Microsoft JhengHei"/>
                <a:cs typeface="Microsoft JhengHei"/>
              </a:rPr>
              <a:t>Top 15% 在 sensitivity 檢查後固定為主分析。FDR &lt; 0.05 是 pathway 門檻，沒有額外校正選擇分析條件的影響。</a:t>
            </a:r>
          </a:p>
        </p:txBody>
      </p:sp>
    </p:spTree>
    <p:extLst>
      <p:ext uri="{BB962C8B-B14F-4D97-AF65-F5344CB8AC3E}">
        <p14:creationId xmlns:p14="http://schemas.microsoft.com/office/powerpoint/2010/main" val="21351861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B47BE2-090C-47B8-9F23-EB97332352B4}"/>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INTERPRETATION</a:t>
            </a:r>
          </a:p>
        </p:txBody>
      </p:sp>
      <p:sp>
        <p:nvSpPr>
          <p:cNvPr id="2" name="">
            <a:extLst xmlns:a="http://schemas.openxmlformats.org/drawingml/2006/main">
              <a:ext uri="{FF2B5EF4-FFF2-40B4-BE49-F238E27FC236}">
                <a16:creationId xmlns:a16="http://schemas.microsoft.com/office/drawing/2014/main" id="{80067964-D1BD-4FF5-9859-D12AA8EB80B0}"/>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生物意義與待驗證問題</a:t>
            </a:r>
          </a:p>
        </p:txBody>
      </p:sp>
      <p:sp>
        <p:nvSpPr>
          <p:cNvPr id="3" name="">
            <a:extLst xmlns:a="http://schemas.openxmlformats.org/drawingml/2006/main">
              <a:ext uri="{FF2B5EF4-FFF2-40B4-BE49-F238E27FC236}">
                <a16:creationId xmlns:a16="http://schemas.microsoft.com/office/drawing/2014/main" id="{190F0122-1443-4790-B102-E36EC519D502}"/>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FFC72D84-16C3-48BE-B22D-1083D9A63366}"/>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14</a:t>
            </a:r>
          </a:p>
        </p:txBody>
      </p:sp>
      <p:sp>
        <p:nvSpPr>
          <p:cNvPr id="5" name="">
            <a:extLst xmlns:a="http://schemas.openxmlformats.org/drawingml/2006/main">
              <a:ext uri="{FF2B5EF4-FFF2-40B4-BE49-F238E27FC236}">
                <a16:creationId xmlns:a16="http://schemas.microsoft.com/office/drawing/2014/main" id="{46B4B65D-470D-4E33-ADB8-3CE2F279A3CB}"/>
              </a:ext>
            </a:extLst>
          </p:cNvPr>
          <p:cNvSpPr>
            <a:spLocks xmlns:a="http://schemas.openxmlformats.org/drawingml/2006/main" noGrp="1"/>
          </p:cNvSpPr>
          <p:nvPr/>
        </p:nvSpPr>
        <p:spPr>
          <a:xfrm xmlns:a="http://schemas.openxmlformats.org/drawingml/2006/main">
            <a:off x="619125" y="142875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b="1">
                <a:solidFill>
                  <a:srgbClr val="142F43"/>
                </a:solidFill>
                <a:latin typeface="Microsoft JhengHei"/>
                <a:ea typeface="Microsoft JhengHei"/>
                <a:cs typeface="Microsoft JhengHei"/>
              </a:defRPr>
            </a:pPr>
            <a:r>
              <a:rPr sz="2175" b="1">
                <a:solidFill>
                  <a:srgbClr val="142F43"/>
                </a:solidFill>
                <a:latin typeface="Microsoft JhengHei"/>
                <a:ea typeface="Microsoft JhengHei"/>
                <a:cs typeface="Microsoft JhengHei"/>
              </a:rPr>
              <a:t>共同富集支持：復發與 STAT5B 活化可能伴隨相似的蛋白質穩態與代謝程式。</a:t>
            </a:r>
          </a:p>
        </p:txBody>
      </p:sp>
      <p:sp>
        <p:nvSpPr>
          <p:cNvPr id="6" name="">
            <a:extLst xmlns:a="http://schemas.openxmlformats.org/drawingml/2006/main">
              <a:ext uri="{FF2B5EF4-FFF2-40B4-BE49-F238E27FC236}">
                <a16:creationId xmlns:a16="http://schemas.microsoft.com/office/drawing/2014/main" id="{7DC01D41-48FD-44E0-B4F3-B80A9BE15981}"/>
              </a:ext>
            </a:extLst>
          </p:cNvPr>
          <p:cNvSpPr>
            <a:spLocks xmlns:a="http://schemas.openxmlformats.org/drawingml/2006/main" noGrp="1"/>
          </p:cNvSpPr>
          <p:nvPr/>
        </p:nvSpPr>
        <p:spPr>
          <a:xfrm xmlns:a="http://schemas.openxmlformats.org/drawingml/2006/main">
            <a:off x="619125" y="2952750"/>
            <a:ext cx="10668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0">
                <a:solidFill>
                  <a:srgbClr val="142F43"/>
                </a:solidFill>
                <a:latin typeface="Microsoft JhengHei"/>
                <a:ea typeface="Microsoft JhengHei"/>
                <a:cs typeface="Microsoft JhengHei"/>
              </a:defRPr>
            </a:pPr>
            <a:r>
              <a:rPr sz="1950" b="0">
                <a:solidFill>
                  <a:srgbClr val="142F43"/>
                </a:solidFill>
                <a:latin typeface="Microsoft JhengHei"/>
                <a:ea typeface="Microsoft JhengHei"/>
                <a:cs typeface="Microsoft JhengHei"/>
              </a:rPr>
              <a:t>Proteasome / mitophagy 的 transcript enrichment 可以用來形成後續假說。它尚未證明蛋白質降解活性、mitophagy flux 或 STAT5 的粒線體定位。</a:t>
            </a:r>
          </a:p>
        </p:txBody>
      </p:sp>
      <p:sp>
        <p:nvSpPr>
          <p:cNvPr id="7" name="">
            <a:extLst xmlns:a="http://schemas.openxmlformats.org/drawingml/2006/main">
              <a:ext uri="{FF2B5EF4-FFF2-40B4-BE49-F238E27FC236}">
                <a16:creationId xmlns:a16="http://schemas.microsoft.com/office/drawing/2014/main" id="{023FAFF6-A626-47F1-AABE-10BAFC1897AD}"/>
              </a:ext>
            </a:extLst>
          </p:cNvPr>
          <p:cNvSpPr>
            <a:spLocks xmlns:a="http://schemas.openxmlformats.org/drawingml/2006/main" noGrp="1"/>
          </p:cNvSpPr>
          <p:nvPr/>
        </p:nvSpPr>
        <p:spPr>
          <a:xfrm xmlns:a="http://schemas.openxmlformats.org/drawingml/2006/main">
            <a:off x="619125" y="4791075"/>
            <a:ext cx="10668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D55E00"/>
                </a:solidFill>
                <a:latin typeface="Microsoft JhengHei"/>
                <a:ea typeface="Microsoft JhengHei"/>
                <a:cs typeface="Microsoft JhengHei"/>
              </a:defRPr>
            </a:pPr>
            <a:r>
              <a:rPr sz="1875" b="0">
                <a:solidFill>
                  <a:srgbClr val="D55E00"/>
                </a:solidFill>
                <a:latin typeface="Microsoft JhengHei"/>
                <a:ea typeface="Microsoft JhengHei"/>
                <a:cs typeface="Microsoft JhengHei"/>
              </a:rPr>
              <a:t>這兩組資料也沒有直接比較 bortezomib responder 與 resistant samples，因此不能從交集直接推論 proteasome inhibitor resistance。</a:t>
            </a:r>
          </a:p>
        </p:txBody>
      </p:sp>
    </p:spTree>
    <p:extLst>
      <p:ext uri="{BB962C8B-B14F-4D97-AF65-F5344CB8AC3E}">
        <p14:creationId xmlns:p14="http://schemas.microsoft.com/office/powerpoint/2010/main" val="20526169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8BCF68-D44B-4794-8CF3-045EC6CC4AFB}"/>
              </a:ext>
            </a:extLst>
          </p:cNvPr>
          <p:cNvSpPr>
            <a:spLocks xmlns:a="http://schemas.openxmlformats.org/drawingml/2006/main" noGrp="1"/>
          </p:cNvSpPr>
          <p:nvPr/>
        </p:nvSpPr>
        <p:spPr>
          <a:xfrm xmlns:a="http://schemas.openxmlformats.org/drawingml/2006/main">
            <a:off x="476250" y="1905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defRPr sz="975" b="1">
                <a:solidFill>
                  <a:srgbClr val="D55E00"/>
                </a:solidFill>
                <a:latin typeface="Microsoft JhengHei"/>
                <a:ea typeface="Microsoft JhengHei"/>
                <a:cs typeface="Microsoft JhengHei"/>
              </a:defRPr>
            </a:pPr>
            <a:r>
              <a:rPr sz="975" b="1">
                <a:solidFill>
                  <a:srgbClr val="D55E00"/>
                </a:solidFill>
                <a:latin typeface="Microsoft JhengHei"/>
                <a:ea typeface="Microsoft JhengHei"/>
                <a:cs typeface="Microsoft JhengHei"/>
              </a:rPr>
              <a:t>HANDOFF</a:t>
            </a:r>
          </a:p>
        </p:txBody>
      </p:sp>
      <p:sp>
        <p:nvSpPr>
          <p:cNvPr id="2" name="">
            <a:extLst xmlns:a="http://schemas.openxmlformats.org/drawingml/2006/main">
              <a:ext uri="{FF2B5EF4-FFF2-40B4-BE49-F238E27FC236}">
                <a16:creationId xmlns:a16="http://schemas.microsoft.com/office/drawing/2014/main" id="{07CCE743-ACF6-41B4-9F41-45C5A6E1C72E}"/>
              </a:ext>
            </a:extLst>
          </p:cNvPr>
          <p:cNvSpPr>
            <a:spLocks xmlns:a="http://schemas.openxmlformats.org/drawingml/2006/main" noGrp="1"/>
          </p:cNvSpPr>
          <p:nvPr/>
        </p:nvSpPr>
        <p:spPr>
          <a:xfrm xmlns:a="http://schemas.openxmlformats.org/drawingml/2006/main">
            <a:off x="476250" y="523875"/>
            <a:ext cx="1114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42F43"/>
                </a:solidFill>
                <a:latin typeface="Microsoft JhengHei"/>
                <a:ea typeface="Microsoft JhengHei"/>
                <a:cs typeface="Microsoft JhengHei"/>
              </a:defRPr>
            </a:pPr>
            <a:r>
              <a:rPr sz="2400" b="1">
                <a:solidFill>
                  <a:srgbClr val="142F43"/>
                </a:solidFill>
                <a:latin typeface="Microsoft JhengHei"/>
                <a:ea typeface="Microsoft JhengHei"/>
                <a:cs typeface="Microsoft JhengHei"/>
              </a:rPr>
              <a:t>交接檔案與可重現性</a:t>
            </a:r>
          </a:p>
        </p:txBody>
      </p:sp>
      <p:sp>
        <p:nvSpPr>
          <p:cNvPr id="3" name="">
            <a:extLst xmlns:a="http://schemas.openxmlformats.org/drawingml/2006/main">
              <a:ext uri="{FF2B5EF4-FFF2-40B4-BE49-F238E27FC236}">
                <a16:creationId xmlns:a16="http://schemas.microsoft.com/office/drawing/2014/main" id="{E1793592-8538-4B45-B8A2-C025D79A4EB3}"/>
              </a:ext>
            </a:extLst>
          </p:cNvPr>
          <p:cNvSpPr>
            <a:spLocks xmlns:a="http://schemas.openxmlformats.org/drawingml/2006/main" noGrp="1"/>
          </p:cNvSpPr>
          <p:nvPr/>
        </p:nvSpPr>
        <p:spPr>
          <a:xfrm xmlns:a="http://schemas.openxmlformats.org/drawingml/2006/main">
            <a:off x="476250" y="6543675"/>
            <a:ext cx="10287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4D5B66"/>
                </a:solidFill>
                <a:latin typeface="Microsoft JhengHei"/>
                <a:ea typeface="Microsoft JhengHei"/>
                <a:cs typeface="Microsoft JhengHei"/>
              </a:defRPr>
            </a:pPr>
            <a:r>
              <a:rPr sz="825" b="0">
                <a:solidFill>
                  <a:srgbClr val="4D5B66"/>
                </a:solidFill>
                <a:latin typeface="Microsoft JhengHei"/>
                <a:ea typeface="Microsoft JhengHei"/>
                <a:cs typeface="Microsoft JhengHei"/>
              </a:rPr>
              <a:t>GSE262271 / GSE218858  |  Reviewed 15 September 2026</a:t>
            </a:r>
          </a:p>
        </p:txBody>
      </p:sp>
      <p:sp>
        <p:nvSpPr>
          <p:cNvPr id="4" name="">
            <a:extLst xmlns:a="http://schemas.openxmlformats.org/drawingml/2006/main">
              <a:ext uri="{FF2B5EF4-FFF2-40B4-BE49-F238E27FC236}">
                <a16:creationId xmlns:a16="http://schemas.microsoft.com/office/drawing/2014/main" id="{E646B4A2-98E8-4392-A4FF-81389E5C8A7A}"/>
              </a:ext>
            </a:extLst>
          </p:cNvPr>
          <p:cNvSpPr>
            <a:spLocks xmlns:a="http://schemas.openxmlformats.org/drawingml/2006/main" noGrp="1"/>
          </p:cNvSpPr>
          <p:nvPr/>
        </p:nvSpPr>
        <p:spPr>
          <a:xfrm xmlns:a="http://schemas.openxmlformats.org/drawingml/2006/main">
            <a:off x="11334750" y="65436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defRPr sz="825" b="0">
                <a:solidFill>
                  <a:srgbClr val="142F43"/>
                </a:solidFill>
                <a:latin typeface="Microsoft JhengHei"/>
                <a:ea typeface="Microsoft JhengHei"/>
                <a:cs typeface="Microsoft JhengHei"/>
              </a:defRPr>
            </a:pPr>
            <a:r>
              <a:rPr sz="825" b="0">
                <a:solidFill>
                  <a:srgbClr val="142F43"/>
                </a:solidFill>
                <a:latin typeface="Microsoft JhengHei"/>
                <a:ea typeface="Microsoft JhengHei"/>
                <a:cs typeface="Microsoft JhengHei"/>
              </a:rPr>
              <a:t>15</a:t>
            </a:r>
          </a:p>
        </p:txBody>
      </p:sp>
      <p:graphicFrame>
        <p:nvGraphicFramePr>
          <p:cNvPr id="12" name=""/>
          <p:cNvGraphicFramePr/>
          <p:nvPr/>
        </p:nvGraphicFramePr>
        <p:xfrm>
          <a:off xmlns:a="http://schemas.openxmlformats.org/drawingml/2006/main" x="523875" y="1200150"/>
          <a:ext xmlns:a="http://schemas.openxmlformats.org/drawingml/2006/main" cx="11144250" cy="3619500"/>
        </p:xfrm>
        <a:graphic xmlns:a="http://schemas.openxmlformats.org/drawingml/2006/main">
          <a:graphicData uri="http://schemas.openxmlformats.org/drawingml/2006/table">
            <a:tbl>
              <a:tblPr firstRow="1" bandRow="0"/>
              <a:tblGrid>
                <a:gridCol w="2571750"/>
                <a:gridCol w="8572500"/>
              </a:tblGrid>
              <a:tr h="419100">
                <a:tc>
                  <a:txBody>
                    <a:bodyPr/>
                    <a:lstStyle/>
                    <a:p>
                      <a:r>
                        <a:rPr sz="1575" b="1">
                          <a:solidFill>
                            <a:srgbClr val="FFFFFF"/>
                          </a:solidFill>
                          <a:latin typeface="Microsoft JhengHei"/>
                          <a:ea typeface="Microsoft JhengHei"/>
                          <a:cs typeface="Microsoft JhengHei"/>
                        </a:rPr>
                        <a:t>資料</a:t>
                      </a:r>
                    </a:p>
                  </a:txBody>
                  <a:tcPr marL="91440" marR="91440" marT="45720" marB="45720">
                    <a:solidFill>
                      <a:srgbClr val="142F43"/>
                    </a:solidFill>
                  </a:tcPr>
                </a:tc>
                <a:tc>
                  <a:txBody>
                    <a:bodyPr/>
                    <a:lstStyle/>
                    <a:p>
                      <a:r>
                        <a:rPr sz="1575" b="1">
                          <a:solidFill>
                            <a:srgbClr val="FFFFFF"/>
                          </a:solidFill>
                          <a:latin typeface="Microsoft JhengHei"/>
                          <a:ea typeface="Microsoft JhengHei"/>
                          <a:cs typeface="Microsoft JhengHei"/>
                        </a:rPr>
                        <a:t>從哪裡看</a:t>
                      </a:r>
                    </a:p>
                  </a:txBody>
                  <a:tcPr marL="91440" marR="91440" marT="45720" marB="45720">
                    <a:solidFill>
                      <a:srgbClr val="142F43"/>
                    </a:solidFill>
                  </a:tcPr>
                </a:tc>
              </a:tr>
              <a:tr h="640080">
                <a:tc>
                  <a:txBody>
                    <a:bodyPr/>
                    <a:lstStyle/>
                    <a:p>
                      <a:r>
                        <a:rPr sz="1575">
                          <a:solidFill>
                            <a:srgbClr val="142F43"/>
                          </a:solidFill>
                          <a:latin typeface="Microsoft JhengHei"/>
                          <a:ea typeface="Microsoft JhengHei"/>
                          <a:cs typeface="Microsoft JhengHei"/>
                        </a:rPr>
                        <a:t>PPT / 說明</a:t>
                      </a:r>
                    </a:p>
                  </a:txBody>
                  <a:tcPr marL="91440" marR="91440" marT="45720" marB="45720"/>
                </a:tc>
                <a:tc>
                  <a:txBody>
                    <a:bodyPr/>
                    <a:lstStyle/>
                    <a:p>
                      <a:r>
                        <a:rPr sz="1575">
                          <a:solidFill>
                            <a:srgbClr val="142F43"/>
                          </a:solidFill>
                          <a:latin typeface="Microsoft JhengHei"/>
                          <a:ea typeface="Microsoft JhengHei"/>
                          <a:cs typeface="Microsoft JhengHei"/>
                        </a:rPr>
                        <a:t>01_Summary；根目錄 00_READ_ME.txt</a:t>
                      </a:r>
                    </a:p>
                  </a:txBody>
                  <a:tcPr marL="91440" marR="91440" marT="45720" marB="45720"/>
                </a:tc>
              </a:tr>
              <a:tr h="640080">
                <a:tc>
                  <a:txBody>
                    <a:bodyPr/>
                    <a:lstStyle/>
                    <a:p>
                      <a:r>
                        <a:rPr sz="1575">
                          <a:solidFill>
                            <a:srgbClr val="142F43"/>
                          </a:solidFill>
                          <a:latin typeface="Microsoft JhengHei"/>
                          <a:ea typeface="Microsoft JhengHei"/>
                          <a:cs typeface="Microsoft JhengHei"/>
                        </a:rPr>
                        <a:t>Figures</a:t>
                      </a:r>
                    </a:p>
                  </a:txBody>
                  <a:tcPr marL="91440" marR="91440" marT="45720" marB="45720"/>
                </a:tc>
                <a:tc>
                  <a:txBody>
                    <a:bodyPr/>
                    <a:lstStyle/>
                    <a:p>
                      <a:r>
                        <a:rPr sz="1575">
                          <a:solidFill>
                            <a:srgbClr val="142F43"/>
                          </a:solidFill>
                          <a:latin typeface="Microsoft JhengHei"/>
                          <a:ea typeface="Microsoft JhengHei"/>
                          <a:cs typeface="Microsoft JhengHei"/>
                        </a:rPr>
                        <a:t>02_Figures：PNG 閱讀、PDF 排版</a:t>
                      </a:r>
                    </a:p>
                  </a:txBody>
                  <a:tcPr marL="91440" marR="91440" marT="45720" marB="45720"/>
                </a:tc>
              </a:tr>
              <a:tr h="640080">
                <a:tc>
                  <a:txBody>
                    <a:bodyPr/>
                    <a:lstStyle/>
                    <a:p>
                      <a:r>
                        <a:rPr sz="1575">
                          <a:solidFill>
                            <a:srgbClr val="142F43"/>
                          </a:solidFill>
                          <a:latin typeface="Microsoft JhengHei"/>
                          <a:ea typeface="Microsoft JhengHei"/>
                          <a:cs typeface="Microsoft JhengHei"/>
                        </a:rPr>
                        <a:t>Tables</a:t>
                      </a:r>
                    </a:p>
                  </a:txBody>
                  <a:tcPr marL="91440" marR="91440" marT="45720" marB="45720"/>
                </a:tc>
                <a:tc>
                  <a:txBody>
                    <a:bodyPr/>
                    <a:lstStyle/>
                    <a:p>
                      <a:r>
                        <a:rPr sz="1575">
                          <a:solidFill>
                            <a:srgbClr val="142F43"/>
                          </a:solidFill>
                          <a:latin typeface="Microsoft JhengHei"/>
                          <a:ea typeface="Microsoft JhengHei"/>
                          <a:cs typeface="Microsoft JhengHei"/>
                        </a:rPr>
                        <a:t>03_Tables：完整 KEGG、同方向交集、target FDR、cell counts</a:t>
                      </a:r>
                    </a:p>
                  </a:txBody>
                  <a:tcPr marL="91440" marR="91440" marT="45720" marB="45720"/>
                </a:tc>
              </a:tr>
              <a:tr h="640080">
                <a:tc>
                  <a:txBody>
                    <a:bodyPr/>
                    <a:lstStyle/>
                    <a:p>
                      <a:r>
                        <a:rPr sz="1575">
                          <a:solidFill>
                            <a:srgbClr val="142F43"/>
                          </a:solidFill>
                          <a:latin typeface="Microsoft JhengHei"/>
                          <a:ea typeface="Microsoft JhengHei"/>
                          <a:cs typeface="Microsoft JhengHei"/>
                        </a:rPr>
                        <a:t>Code / 稽核記錄</a:t>
                      </a:r>
                    </a:p>
                  </a:txBody>
                  <a:tcPr marL="91440" marR="91440" marT="45720" marB="45720"/>
                </a:tc>
                <a:tc>
                  <a:txBody>
                    <a:bodyPr/>
                    <a:lstStyle/>
                    <a:p>
                      <a:r>
                        <a:rPr sz="1575">
                          <a:solidFill>
                            <a:srgbClr val="142F43"/>
                          </a:solidFill>
                          <a:latin typeface="Microsoft JhengHei"/>
                          <a:ea typeface="Microsoft JhengHei"/>
                          <a:cs typeface="Microsoft JhengHei"/>
                        </a:rPr>
                        <a:t>04_Code_Availability：R scripts 22–26、原始 bulk pipeline、版本與限制</a:t>
                      </a:r>
                    </a:p>
                  </a:txBody>
                  <a:tcPr marL="91440" marR="91440" marT="45720" marB="45720"/>
                </a:tc>
              </a:tr>
              <a:tr h="640080">
                <a:tc>
                  <a:txBody>
                    <a:bodyPr/>
                    <a:lstStyle/>
                    <a:p>
                      <a:r>
                        <a:rPr sz="1575">
                          <a:solidFill>
                            <a:srgbClr val="142F43"/>
                          </a:solidFill>
                          <a:latin typeface="Microsoft JhengHei"/>
                          <a:ea typeface="Microsoft JhengHei"/>
                          <a:cs typeface="Microsoft JhengHei"/>
                        </a:rPr>
                        <a:t>Raw data / R objects</a:t>
                      </a:r>
                    </a:p>
                  </a:txBody>
                  <a:tcPr marL="91440" marR="91440" marT="45720" marB="45720"/>
                </a:tc>
                <a:tc>
                  <a:txBody>
                    <a:bodyPr/>
                    <a:lstStyle/>
                    <a:p>
                      <a:r>
                        <a:rPr sz="1575">
                          <a:solidFill>
                            <a:srgbClr val="142F43"/>
                          </a:solidFill>
                          <a:latin typeface="Microsoft JhengHei"/>
                          <a:ea typeface="Microsoft JhengHei"/>
                          <a:cs typeface="Microsoft JhengHei"/>
                        </a:rPr>
                        <a:t>05_Data_Locations：原始 accession 與本機路徑，不重複搬大型檔案</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A995248D-2EC4-4709-9D30-8A08D16180BC}"/>
              </a:ext>
            </a:extLst>
          </p:cNvPr>
          <p:cNvSpPr>
            <a:spLocks xmlns:a="http://schemas.openxmlformats.org/drawingml/2006/main" noGrp="1"/>
          </p:cNvSpPr>
          <p:nvPr/>
        </p:nvSpPr>
        <p:spPr>
          <a:xfrm xmlns:a="http://schemas.openxmlformats.org/drawingml/2006/main">
            <a:off x="619125" y="52197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1">
                <a:solidFill>
                  <a:srgbClr val="0072B2"/>
                </a:solidFill>
                <a:latin typeface="Microsoft JhengHei"/>
                <a:ea typeface="Microsoft JhengHei"/>
                <a:cs typeface="Microsoft JhengHei"/>
              </a:defRPr>
            </a:pPr>
            <a:r>
              <a:rPr sz="1725" b="1">
                <a:solidFill>
                  <a:srgbClr val="0072B2"/>
                </a:solidFill>
                <a:latin typeface="Microsoft JhengHei"/>
                <a:ea typeface="Microsoft JhengHei"/>
                <a:cs typeface="Microsoft JhengHei"/>
              </a:rPr>
              <a:t>github.com/brianchiuyulab/hematologic-malignancy-transcriptomics</a:t>
            </a:r>
          </a:p>
        </p:txBody>
      </p:sp>
      <p:sp>
        <p:nvSpPr>
          <p:cNvPr id="7" name="">
            <a:extLst xmlns:a="http://schemas.openxmlformats.org/drawingml/2006/main">
              <a:ext uri="{FF2B5EF4-FFF2-40B4-BE49-F238E27FC236}">
                <a16:creationId xmlns:a16="http://schemas.microsoft.com/office/drawing/2014/main" id="{031B62C0-E0E7-419E-91A8-24D74841062B}"/>
              </a:ext>
            </a:extLst>
          </p:cNvPr>
          <p:cNvSpPr>
            <a:spLocks xmlns:a="http://schemas.openxmlformats.org/drawingml/2006/main" noGrp="1"/>
          </p:cNvSpPr>
          <p:nvPr/>
        </p:nvSpPr>
        <p:spPr>
          <a:xfrm xmlns:a="http://schemas.openxmlformats.org/drawingml/2006/main">
            <a:off x="619125" y="5819775"/>
            <a:ext cx="10668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b="0">
                <a:solidFill>
                  <a:srgbClr val="D55E00"/>
                </a:solidFill>
                <a:latin typeface="Microsoft JhengHei"/>
                <a:ea typeface="Microsoft JhengHei"/>
                <a:cs typeface="Microsoft JhengHei"/>
              </a:defRPr>
            </a:pPr>
            <a:r>
              <a:rPr sz="1650" b="0">
                <a:solidFill>
                  <a:srgbClr val="D55E00"/>
                </a:solidFill>
                <a:latin typeface="Microsoft JhengHei"/>
                <a:ea typeface="Microsoft JhengHei"/>
                <a:cs typeface="Microsoft JhengHei"/>
              </a:rPr>
              <a:t>投稿前仍需補強 malignant-cell 的獨立驗證。此包提供可追溯的探索型分析，不標榜已完成審稿驗證。</a:t>
            </a:r>
          </a:p>
        </p:txBody>
      </p:sp>
    </p:spTree>
    <p:extLst>
      <p:ext uri="{BB962C8B-B14F-4D97-AF65-F5344CB8AC3E}">
        <p14:creationId xmlns:p14="http://schemas.microsoft.com/office/powerpoint/2010/main" val="17907596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2026-09-15T10:33:14.1050000Z</dcterms:created>
  <dcterms:modified xsi:type="dcterms:W3CDTF">2026-09-15T10:33:14.1050000Z</dcterms:modified>
</coreProperties>
</file>