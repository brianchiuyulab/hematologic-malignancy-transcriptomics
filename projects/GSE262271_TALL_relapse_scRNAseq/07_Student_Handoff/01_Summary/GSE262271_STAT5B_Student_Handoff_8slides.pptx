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f948cba0514e37" /><Relationship Type="http://schemas.openxmlformats.org/officeDocument/2006/relationships/extended-properties" Target="/docProps/app.xml" Id="R21325ed7672845e0" /><Relationship Type="http://schemas.openxmlformats.org/officeDocument/2006/relationships/officeDocument" Target="/ppt/presentation.xml" Id="R75252befa5e74c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5da2bf00354e5c"/>
  </p:sldMasterIdLst>
  <p:notesMasterIdLst>
    <p:notesMasterId xmlns:r="http://schemas.openxmlformats.org/officeDocument/2006/relationships" r:id="R76206c8ab6974e67"/>
  </p:notesMasterIdLst>
  <p:sldIdLst>
    <p:sldId xmlns:r="http://schemas.openxmlformats.org/officeDocument/2006/relationships" id="256" r:id="R301f747a791c4b9f"/>
    <p:sldId xmlns:r="http://schemas.openxmlformats.org/officeDocument/2006/relationships" id="257" r:id="R88a699ee79c04cbf"/>
    <p:sldId xmlns:r="http://schemas.openxmlformats.org/officeDocument/2006/relationships" id="258" r:id="R12d4cb7541884962"/>
    <p:sldId xmlns:r="http://schemas.openxmlformats.org/officeDocument/2006/relationships" id="259" r:id="R2b4eff4a71fe4f1c"/>
    <p:sldId xmlns:r="http://schemas.openxmlformats.org/officeDocument/2006/relationships" id="260" r:id="R2ee6756228a44265"/>
    <p:sldId xmlns:r="http://schemas.openxmlformats.org/officeDocument/2006/relationships" id="261" r:id="Ra17559738aea4556"/>
    <p:sldId xmlns:r="http://schemas.openxmlformats.org/officeDocument/2006/relationships" id="262" r:id="R816fe1afa9c3481d"/>
    <p:sldId xmlns:r="http://schemas.openxmlformats.org/officeDocument/2006/relationships" id="263" r:id="R822b790644a44a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06216c63724a40" /><Relationship Type="http://schemas.openxmlformats.org/officeDocument/2006/relationships/slideMaster" Target="/ppt/slideMasters/slideMaster1.xml" Id="R255da2bf00354e5c" /><Relationship Type="http://schemas.openxmlformats.org/officeDocument/2006/relationships/notesMaster" Target="/ppt/notesMasters/notesMaster1.xml" Id="R76206c8ab6974e67" /><Relationship Type="http://schemas.openxmlformats.org/officeDocument/2006/relationships/presProps" Target="/ppt/presProps.xml" Id="R37c018558b25403b" /><Relationship Type="http://schemas.openxmlformats.org/officeDocument/2006/relationships/tableStyles" Target="/ppt/tableStyles.xml" Id="Rbc5df02d81784009" /><Relationship Type="http://schemas.openxmlformats.org/officeDocument/2006/relationships/slide" Target="/ppt/slides/slide1.xml" Id="R301f747a791c4b9f" /><Relationship Type="http://schemas.openxmlformats.org/officeDocument/2006/relationships/slide" Target="/ppt/slides/slide2.xml" Id="R88a699ee79c04cbf" /><Relationship Type="http://schemas.openxmlformats.org/officeDocument/2006/relationships/slide" Target="/ppt/slides/slide3.xml" Id="R12d4cb7541884962" /><Relationship Type="http://schemas.openxmlformats.org/officeDocument/2006/relationships/slide" Target="/ppt/slides/slide4.xml" Id="R2b4eff4a71fe4f1c" /><Relationship Type="http://schemas.openxmlformats.org/officeDocument/2006/relationships/slide" Target="/ppt/slides/slide5.xml" Id="R2ee6756228a44265" /><Relationship Type="http://schemas.openxmlformats.org/officeDocument/2006/relationships/slide" Target="/ppt/slides/slide6.xml" Id="Ra17559738aea4556" /><Relationship Type="http://schemas.openxmlformats.org/officeDocument/2006/relationships/slide" Target="/ppt/slides/slide7.xml" Id="R816fe1afa9c3481d" /><Relationship Type="http://schemas.openxmlformats.org/officeDocument/2006/relationships/slide" Target="/ppt/slides/slide8.xml" Id="R822b790644a44a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320046ceab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6fcdf14b9444b4" /><Relationship Type="http://schemas.openxmlformats.org/officeDocument/2006/relationships/notesMaster" Target="/ppt/notesMasters/notesMaster1.xml" Id="Rbf682f249c0f40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1423b4c7e4985" /><Relationship Type="http://schemas.openxmlformats.org/officeDocument/2006/relationships/notesMaster" Target="/ppt/notesMasters/notesMaster1.xml" Id="Rd9d6993f0bfa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79f168439248e0" /><Relationship Type="http://schemas.openxmlformats.org/officeDocument/2006/relationships/notesMaster" Target="/ppt/notesMasters/notesMaster1.xml" Id="R556ab414751a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72de00c744760" /><Relationship Type="http://schemas.openxmlformats.org/officeDocument/2006/relationships/notesMaster" Target="/ppt/notesMasters/notesMaster1.xml" Id="Reeecf6fee99141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0233b9366d4531" /><Relationship Type="http://schemas.openxmlformats.org/officeDocument/2006/relationships/notesMaster" Target="/ppt/notesMasters/notesMaster1.xml" Id="Ref31dc410e50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58116b1c94ba7" /><Relationship Type="http://schemas.openxmlformats.org/officeDocument/2006/relationships/notesMaster" Target="/ppt/notesMasters/notesMaster1.xml" Id="R1e934f4829dd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80690616d04556" /><Relationship Type="http://schemas.openxmlformats.org/officeDocument/2006/relationships/notesMaster" Target="/ppt/notesMasters/notesMaster1.xml" Id="Ra5648414c9d34c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f24bf47e7d43b5" /><Relationship Type="http://schemas.openxmlformats.org/officeDocument/2006/relationships/notesMaster" Target="/ppt/notesMasters/notesMaster1.xml" Id="Rb1b113ee7207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這是精簡交接版。先分清兩組資料，再分清 frozen primary top 25% 與 exploratory high-confidence top 15%。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GSE262271 是 paired human disease dataset。GSE218858 是 mouse STAT5B N642H bulk model，屬獨立 pathway-level validation。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Outcome-independent anchor 指的是 cutoff 來自 non-T reference CNV distribution，而不是 relapse-versus-diagnosis pathway P value。Top 15% 的精確比例仍來自敏感度分析，所以必須明示 exploratory。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 15% 的 pathway FDR 不能反過來當 cutoff 選擇依據。報告時要同時展示 primary、secondary、top 15 sensitivity。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主要顯著 pathways 包括 oxidative phosphorylation、ribosome、ribosome biogenesis、DNA replication 與 spliceosome。Mitophagy 為探索型，proteasome 接近 0.10。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這張呈現 within-patient paired direction，不把 cells 當 replicate。Scores 是 leading-edge mean expression；FDR 是 pathway-level GSEA FDR。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Cross-dataset overlap 只表示方向與 pathway 層級相符。物種、bulk versus single-cell 與 experimental context 不同，不能當作 direct causal validation。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交接包是 reader-facing subset。完整專案與全部 sensitivity tables 仍保留在原 module，GitHub 只排除 large raw and R object files。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5add0cd4146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117eb4afb4372" /><Relationship Type="http://schemas.openxmlformats.org/officeDocument/2006/relationships/slideLayout" Target="/ppt/slideLayouts/slideLayout1.xml" Id="Rcf104e31b8bc46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104e31b8bc46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167d85e034c58" /><Relationship Type="http://schemas.openxmlformats.org/officeDocument/2006/relationships/notesSlide" Target="/ppt/notesSlides/notesSlide1.xml" Id="R9518081e267842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fb9a062f947fc" /><Relationship Type="http://schemas.openxmlformats.org/officeDocument/2006/relationships/notesSlide" Target="/ppt/notesSlides/notesSlide2.xml" Id="R1beb1c2d3f0c4c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a9cfa29964676" /><Relationship Type="http://schemas.openxmlformats.org/officeDocument/2006/relationships/image" Target="/ppt/media/image.png" Id="R120330ccb33a47e8" /><Relationship Type="http://schemas.openxmlformats.org/officeDocument/2006/relationships/notesSlide" Target="/ppt/notesSlides/notesSlide3.xml" Id="R668a9169ffce4a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acb8d17634614" /><Relationship Type="http://schemas.openxmlformats.org/officeDocument/2006/relationships/notesSlide" Target="/ppt/notesSlides/notesSlide4.xml" Id="Rc38ad76aa09448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e1ba86d904b70" /><Relationship Type="http://schemas.openxmlformats.org/officeDocument/2006/relationships/image" Target="/ppt/media/image2.png" Id="R5fc762b806154e0b" /><Relationship Type="http://schemas.openxmlformats.org/officeDocument/2006/relationships/notesSlide" Target="/ppt/notesSlides/notesSlide5.xml" Id="R1cb76daf75da44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25950e25b43b2" /><Relationship Type="http://schemas.openxmlformats.org/officeDocument/2006/relationships/notesSlide" Target="/ppt/notesSlides/notesSlide6.xml" Id="R2279972a62f74c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86f259c6b475a" /><Relationship Type="http://schemas.openxmlformats.org/officeDocument/2006/relationships/image" Target="/ppt/media/image3.png" Id="Rde2eee16be3c4ba7" /><Relationship Type="http://schemas.openxmlformats.org/officeDocument/2006/relationships/image" Target="/ppt/media/image4.png" Id="R91934e2300384964" /><Relationship Type="http://schemas.openxmlformats.org/officeDocument/2006/relationships/notesSlide" Target="/ppt/notesSlides/notesSlide7.xml" Id="Re4928cbe43df4f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e9691f8c54ea4" /><Relationship Type="http://schemas.openxmlformats.org/officeDocument/2006/relationships/notesSlide" Target="/ppt/notesSlides/notesSlide8.xml" Id="Rda673b1dd9ec4e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F26C7-1393-4750-AC74-12E9723A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23586-EC06-44B4-B50C-5F17AF43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B6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4B66B"/>
                </a:solidFill>
                <a:latin typeface="Microsoft JhengHei"/>
                <a:ea typeface="Microsoft JhengHei"/>
                <a:cs typeface="Microsoft JhengHei"/>
              </a:rPr>
              <a:t>HEMATOLOGIC MALIGNANCY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B2D4F-66E6-49F3-933C-44750054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T-ALL relapse transcriptomics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7AA4F-327B-4C70-8E45-CA09A5B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CE5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DCE5EC"/>
                </a:solidFill>
                <a:latin typeface="Microsoft JhengHei"/>
                <a:ea typeface="Microsoft JhengHei"/>
                <a:cs typeface="Microsoft JhengHei"/>
              </a:rPr>
              <a:t>Single-cell discovery and STAT5B bulk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1905E-56C2-43E7-8535-C038B117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E99C1-E60D-4380-869E-7C8D3C3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B6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4B66B"/>
                </a:solidFill>
                <a:latin typeface="Microsoft JhengHei"/>
                <a:ea typeface="Microsoft JhengHei"/>
                <a:cs typeface="Microsoft JhengHei"/>
              </a:rPr>
              <a:t>交接重點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9F6A3-D589-4E96-BAD7-365361A6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Relapse-associated potential malignant T cells show an oxidative and proteostasis program. Mitophagy and proteasome signals strengthen in a high-confidence CNV core.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576A3-2A3B-4254-8713-E1E6A33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FCA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FCAD4"/>
                </a:solidFill>
                <a:latin typeface="Microsoft JhengHei"/>
                <a:ea typeface="Microsoft JhengHei"/>
                <a:cs typeface="Microsoft JhengHei"/>
              </a:rPr>
              <a:t>8-slide student handoff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33007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DE4EA-37C1-4B7E-9016-6E50DE26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F8D00-13F7-4484-BD13-00390CE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AA960-58CB-4F01-8197-14806771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1119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兩組關鍵資料回答不同層次的問題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EBCAD-71CF-40D2-A40A-5A2D153C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05575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85527-F6C0-445C-8632-46984F98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876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GSE262271 paired scRNA-seq and GSE218858 STAT5B N642H bulk RNA-seq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5655D-6E40-42DC-A9B7-51F560C7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14350" y="1190625"/>
          <a:ext xmlns:a="http://schemas.openxmlformats.org/drawingml/2006/main" cx="1114425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3143250"/>
                <a:gridCol w="2857500"/>
                <a:gridCol w="3429000"/>
              </a:tblGrid>
              <a:tr h="857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Design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核心比較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在專案中的角色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GSE262271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Human T-ALL scRNA-seq</a:t>
                      </a:r>
                    </a:p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patients, paired diagnosis and relapse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Potential malignant T cells</a:t>
                      </a:r>
                    </a:p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Relapse versus diagnosis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疾病復發訊號與 CNV-high population 的主要分析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GSE218858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Mouse bulk RNA-seq</a:t>
                      </a:r>
                    </a:p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STAT5B N642H perturbation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STAT5B N642H versus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 pathway direction 是否與 STAT5B hyperactivation 一致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5EE4A-B97B-4118-B9A9-5F6BE9D2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Single-cell 的統計單位是 patient sample，不是 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D5138-CF6E-479E-9037-562434FC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66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52B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52B33"/>
                </a:solidFill>
                <a:latin typeface="Microsoft JhengHei"/>
                <a:ea typeface="Microsoft JhengHei"/>
                <a:cs typeface="Microsoft JhengHei"/>
              </a:rPr>
              <a:t>每個 sample 先做 pseudobulk，再用 edgeR model  ~ patient_pair + condition。GSEA 使用這個 paired model 產生的 genome-wide ranking。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38777-DD03-4DA9-BDD7-BAFE8E0C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rPr>
              <a:t>跨資料集一致只支持 association，不證明 STAT5 直接活化 mitophagy 或造成 bortezomib resistance。</a:t>
            </a:r>
          </a:p>
        </p:txBody>
      </p:sp>
    </p:spTree>
    <p:extLst>
      <p:ext uri="{BB962C8B-B14F-4D97-AF65-F5344CB8AC3E}">
        <p14:creationId xmlns:p14="http://schemas.microsoft.com/office/powerpoint/2010/main" val="282466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91AD8-20F8-4B63-8A02-2E1AF44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D8244-AAE7-49B5-9873-87BD4C76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CNV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1E646-3DE9-4603-ACAA-F2C4F8AB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1119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Top 15% 有 reference anchor，但仍須標示為 exploratory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92E17-A6C5-4D33-AB88-310B615B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05575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7F4C3-6A21-4FC1-BE8E-B3FD8719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876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GSE262271 paired scRNA-seq and GSE218858 STAT5B N642H bulk RNA-seq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7BDCC-4322-45B3-9BBC-846C1DB8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330ccb33a47e8"/>
          <a:stretch xmlns:a="http://schemas.openxmlformats.org/drawingml/2006/main"/>
        </p:blipFill>
        <p:spPr>
          <a:xfrm xmlns:a="http://schemas.openxmlformats.org/drawingml/2006/main">
            <a:off x="2497607" y="952500"/>
            <a:ext cx="7196787" cy="5191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1F8FA-BAEE-4C94-A11D-E7E4F92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1093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non-T reference q95 = 0.0269；15.4% candidate T-lineage cells 超過此正常參考上限。10% 至 50% 的 NES 方向大致一致。</a:t>
            </a:r>
          </a:p>
        </p:txBody>
      </p:sp>
    </p:spTree>
    <p:extLst>
      <p:ext uri="{BB962C8B-B14F-4D97-AF65-F5344CB8AC3E}">
        <p14:creationId xmlns:p14="http://schemas.microsoft.com/office/powerpoint/2010/main" val="1488204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87651-9AA9-4C8C-9F1E-35CBFCFB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34AAF-F343-4750-A8A1-6D67A8A8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ANALYSIS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5DDF9-C499-416F-9F3D-5ED4C86A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1119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Frozen primary 與 high-confidence core 不能混成同一分析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743A3-80D8-4C2D-90E0-338294C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05575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840FD-8806-447C-8946-BE3C1EE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876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GSE262271 paired scRNA-seq and GSE218858 STAT5B N642H bulk RNA-seq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23201-2651-4ACB-A23C-70AD3E35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1190625"/>
          <a:ext xmlns:a="http://schemas.openxmlformats.org/drawingml/2006/main" cx="11382375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1524000"/>
                <a:gridCol w="1524000"/>
                <a:gridCol w="1714500"/>
                <a:gridCol w="1714500"/>
                <a:gridCol w="2809875"/>
              </a:tblGrid>
              <a:tr h="857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Analysis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Cells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Min/sample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Mitophagy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Proteasome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正確定位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Frozen primary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Global top 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3,207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NES 1.44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FDR 0.100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NES 1.53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FDR 0.109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保留原始分析與完整 provenance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Fixed secondary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Within-sample top 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3,210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NES 1.48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FDR 0.081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NES 1.60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FDR 0.068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樣本內平衡，探索型 FDR &lt; 0.10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High-confidence core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Within-sample top 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1,926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NES 1.69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FDR 0.015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NES 1.89</a:t>
                      </a:r>
                    </a:p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FDR 0.0059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Reference-anchored exploratory sensitivity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7C901-0165-46F6-9132-E29DD37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rPr>
              <a:t>15% 不可因為 P value 最小而被稱為 unbiased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03007-1772-4C8A-88A5-BCBC3FE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67350"/>
            <a:ext cx="10668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2B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52B33"/>
                </a:solidFill>
                <a:latin typeface="Microsoft JhengHei"/>
                <a:ea typeface="Microsoft JhengHei"/>
                <a:cs typeface="Microsoft JhengHei"/>
              </a:rPr>
              <a:t>可辯護的理由是 non-T q95 提供與 outcome 無關的生物學 anchor，加上每個 sample 仍有至少 107 顆細胞，且其他合理 cutoff 的方向相符。</a:t>
            </a:r>
          </a:p>
        </p:txBody>
      </p:sp>
    </p:spTree>
    <p:extLst>
      <p:ext uri="{BB962C8B-B14F-4D97-AF65-F5344CB8AC3E}">
        <p14:creationId xmlns:p14="http://schemas.microsoft.com/office/powerpoint/2010/main" val="356364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ED9D2-11A3-4881-A39E-895313E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2C44D-745F-42A5-B809-35F6BA4A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SINGLE-CELL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2E669-89F8-482E-8E95-56BC34F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1119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Primary GSEA 指向 oxidative、biosynthetic 與 replication programs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ABF6A-CAAD-4ED0-ABD4-D843760B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05575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E9FFD-1B9E-4634-B062-4DC15E9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876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GSE262271 paired scRNA-seq and GSE218858 STAT5B N642H bulk RNA-seq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4DD52-C0A0-437E-A031-FFD17F52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762b806154e0b"/>
          <a:stretch xmlns:a="http://schemas.openxmlformats.org/drawingml/2006/main"/>
        </p:blipFill>
        <p:spPr>
          <a:xfrm xmlns:a="http://schemas.openxmlformats.org/drawingml/2006/main">
            <a:off x="2202656" y="952500"/>
            <a:ext cx="7786688" cy="5191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0DD7E-A255-4397-8FEF-B3F96E6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810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Frozen top 25%：KEGG mitophagy FDR 0.0998；proteasome FDR 0.109；general autophagy 不顯著。</a:t>
            </a:r>
          </a:p>
        </p:txBody>
      </p:sp>
    </p:spTree>
    <p:extLst>
      <p:ext uri="{BB962C8B-B14F-4D97-AF65-F5344CB8AC3E}">
        <p14:creationId xmlns:p14="http://schemas.microsoft.com/office/powerpoint/2010/main" val="19772496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B9D7E-1CF1-4E59-B812-1192B3B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41AFE-E11B-47A0-9657-7DD5DD24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PAIRED TARGET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00786-A8BE-4429-B112-3DBE0C7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1119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Top 15% core 中兩個 target 都是 3/3 patients 上升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417F1-8704-4A7C-8485-7101FB48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05575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CBB61-11FB-46CA-9E5A-72057E0A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876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GSE262271 paired scRNA-seq and GSE218858 STAT5B N642H bulk RNA-seq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BD6C-1A67-40AD-BC45-8599BC9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190625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43125"/>
                <a:gridCol w="1143000"/>
                <a:gridCol w="2190750"/>
                <a:gridCol w="2190750"/>
                <a:gridCol w="266700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Pathway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Patient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Diagnosis score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Relapse score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Paired change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Proteasome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6.794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6.927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+0.134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Proteasome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6.258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6.971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+0.713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Proteasome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6.305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6.883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+0.578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Mitophagy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6.246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6.944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+0.698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Mitophagy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5.927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6.125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+0.197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Mitophagy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5.565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6.194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+0.629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C5CD4-ACDB-4E76-89DC-4501EAEA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Full KEGG correction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A300B-B0F8-4EF7-B9FC-BAD508B7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Proteasome NES 1.89, FDR 0.0059</a:t>
            </a:r>
          </a:p>
          <a:p xmlns:a="http://schemas.openxmlformats.org/drawingml/2006/main">
            <a:pPr>
              <a:defRPr sz="15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Mitophagy NES 1.69, FDR 0.015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3F321-ABC0-4D47-BD14-815E2C10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rPr>
              <a:t>N = 3 pairs。方向一致性增加可信度，但不消除 small-sample uncertainty。</a:t>
            </a:r>
          </a:p>
        </p:txBody>
      </p:sp>
    </p:spTree>
    <p:extLst>
      <p:ext uri="{BB962C8B-B14F-4D97-AF65-F5344CB8AC3E}">
        <p14:creationId xmlns:p14="http://schemas.microsoft.com/office/powerpoint/2010/main" val="452116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8BC22-475C-4141-8027-79F4BC8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09BA8-FB3C-477C-AA66-0964EE35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CROSS-DATASET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6E517-1C09-4B81-8FD3-7D9036F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1119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STAT5B N642H bulk dataset 支持同方向 pathway association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C5AE7-B26C-4658-934F-EDF7D421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05575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E71AB-39BB-4264-8B88-C1EED38A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876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GSE262271 paired scRNA-seq and GSE218858 STAT5B N642H bulk RNA-seq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DC612-9613-4B45-9BAC-02D7FC4E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eee16be3c4ba7"/>
          <a:stretch xmlns:a="http://schemas.openxmlformats.org/drawingml/2006/main"/>
        </p:blipFill>
        <p:spPr>
          <a:xfrm xmlns:a="http://schemas.openxmlformats.org/drawingml/2006/main">
            <a:off x="400050" y="1601665"/>
            <a:ext cx="7096125" cy="371181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34e2300384964"/>
          <a:stretch xmlns:a="http://schemas.openxmlformats.org/drawingml/2006/main"/>
        </p:blipFill>
        <p:spPr>
          <a:xfrm xmlns:a="http://schemas.openxmlformats.org/drawingml/2006/main">
            <a:off x="7620000" y="2432242"/>
            <a:ext cx="4095750" cy="201256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E749F-253C-4C03-9D03-12F4EA9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Both up: OXPHOS, mitophagy, proteasome, ribosome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10E66-13AC-4167-B48C-D0BC6CCC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0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Shared KEGG at FDR &lt; 0.10: 28 up, 0 down</a:t>
            </a:r>
          </a:p>
        </p:txBody>
      </p:sp>
    </p:spTree>
    <p:extLst>
      <p:ext uri="{BB962C8B-B14F-4D97-AF65-F5344CB8AC3E}">
        <p14:creationId xmlns:p14="http://schemas.microsoft.com/office/powerpoint/2010/main" val="1101778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749E9-2795-4BF1-B473-DE652EA8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836BC-FB20-48FB-91B1-F69DF9EE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D8C55-4BF3-461E-90DF-7C892DC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1119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交接閱讀順序與 code availability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05C69-6D44-4DF3-B180-80E1D54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05575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4CD77-B689-47A1-8D20-BAEF9D7F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876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0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GSE262271 paired scRNA-seq and GSE218858 STAT5B N642H bulk RNA-seq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793F8-02CE-4FD9-BFF8-4AF77355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5D6875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14350" y="1143000"/>
          <a:ext xmlns:a="http://schemas.openxmlformats.org/drawingml/2006/main" cx="111442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3429000"/>
                <a:gridCol w="60960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順序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位置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先理解什麼</a:t>
                      </a:r>
                    </a:p>
                  </a:txBody>
                  <a:tcPr marL="91440" marR="91440" marT="45720" marB="45720">
                    <a:solidFill>
                      <a:srgbClr val="15263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00_START_HERE_請先看.txt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兩組 dataset、主要結論、primary 與 top 15% 的關係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01_Summary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本簡報，8 張 slide 完成全案導覽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02_Key_Figures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只保留 6 張主圖和 1 張 cutoff sensitivity 圖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03_Key_Tables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重點 GSEA、paired direction、cross-dataset overlap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04_Code_Availability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52B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GitHub link、script map、可重現性與限制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701B6-DCBB-4F7C-BECA-7A6A210B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55E00"/>
                </a:solidFill>
                <a:latin typeface="Microsoft JhengHei"/>
                <a:ea typeface="Microsoft JhengHei"/>
                <a:cs typeface="Microsoft JhengHei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0493F-A807-4D9F-AFC4-6711196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63C"/>
                </a:solidFill>
                <a:latin typeface="Microsoft JhengHei"/>
                <a:ea typeface="Microsoft JhengHei"/>
                <a:cs typeface="Microsoft JhengHei"/>
              </a:rPr>
              <a:t>github.com/brianchiuyulab/hematologic-malignancy-transcriptomics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7117B-0CA6-4C79-96A9-C6F2117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57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2B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52B33"/>
                </a:solidFill>
                <a:latin typeface="Microsoft JhengHei"/>
                <a:ea typeface="Microsoft JhengHei"/>
                <a:cs typeface="Microsoft JhengHei"/>
              </a:rPr>
              <a:t>Raw data 與大型 R objects 留在本機，不上傳 GitHub；交接包提供絕對路徑與 accession。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04BA1-8271-41DC-A982-69815A4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23A48"/>
                </a:solidFill>
                <a:latin typeface="Microsoft JhengHei"/>
                <a:ea typeface="Microsoft JhengHei"/>
                <a:cs typeface="Microsoft JhengHei"/>
              </a:rPr>
              <a:t>最先看的三張圖：CNV cutoff robustness、single-cell KEGG GSEA、cross-dataset concordance。</a:t>
            </a:r>
          </a:p>
        </p:txBody>
      </p:sp>
    </p:spTree>
    <p:extLst>
      <p:ext uri="{BB962C8B-B14F-4D97-AF65-F5344CB8AC3E}">
        <p14:creationId xmlns:p14="http://schemas.microsoft.com/office/powerpoint/2010/main" val="344455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2026-09-14T07:47:32.7550000Z</dcterms:created>
  <dcterms:modified xsi:type="dcterms:W3CDTF">2026-09-14T07:47:32.7550000Z</dcterms:modified>
</coreProperties>
</file>