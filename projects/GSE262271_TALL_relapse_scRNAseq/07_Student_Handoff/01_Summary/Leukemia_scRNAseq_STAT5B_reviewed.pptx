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c9f7d66b8848c7" /><Relationship Type="http://schemas.openxmlformats.org/officeDocument/2006/relationships/extended-properties" Target="/docProps/app.xml" Id="Re9e7af7146d5496f" /><Relationship Type="http://schemas.openxmlformats.org/officeDocument/2006/relationships/officeDocument" Target="/ppt/presentation.xml" Id="R7ee4c97c274f4998" /></Relationships>
</file>

<file path=ppt/presentation.xml><?xml version="1.0" encoding="utf-8"?>
<p:presentation xmlns:p="http://schemas.openxmlformats.org/presentationml/2006/main">
  <p:sldMasterIdLst>
    <p:sldMasterId xmlns:r="http://schemas.openxmlformats.org/officeDocument/2006/relationships" id="2147483648" r:id="R7b918ffb7c044455"/>
  </p:sldMasterIdLst>
  <p:notesMasterIdLst>
    <p:notesMasterId xmlns:r="http://schemas.openxmlformats.org/officeDocument/2006/relationships" r:id="R2e6f41408ebd4501"/>
  </p:notesMasterIdLst>
  <p:sldIdLst>
    <p:sldId xmlns:r="http://schemas.openxmlformats.org/officeDocument/2006/relationships" id="256" r:id="R52b15820f29a4d67"/>
    <p:sldId xmlns:r="http://schemas.openxmlformats.org/officeDocument/2006/relationships" id="257" r:id="Rb3ab7ed6139847cc"/>
    <p:sldId xmlns:r="http://schemas.openxmlformats.org/officeDocument/2006/relationships" id="258" r:id="R5ce29effc42648e1"/>
    <p:sldId xmlns:r="http://schemas.openxmlformats.org/officeDocument/2006/relationships" id="259" r:id="R4647373685d34efc"/>
    <p:sldId xmlns:r="http://schemas.openxmlformats.org/officeDocument/2006/relationships" id="260" r:id="Rcea1973c12e74016"/>
    <p:sldId xmlns:r="http://schemas.openxmlformats.org/officeDocument/2006/relationships" id="261" r:id="Rda162ea381db426b"/>
    <p:sldId xmlns:r="http://schemas.openxmlformats.org/officeDocument/2006/relationships" id="262" r:id="R454e1a1a19fb4068"/>
    <p:sldId xmlns:r="http://schemas.openxmlformats.org/officeDocument/2006/relationships" id="263" r:id="Rd21d31e1b4c54e5f"/>
    <p:sldId xmlns:r="http://schemas.openxmlformats.org/officeDocument/2006/relationships" id="264" r:id="R0a87428dcbcb4d4f"/>
    <p:sldId xmlns:r="http://schemas.openxmlformats.org/officeDocument/2006/relationships" id="265" r:id="R10bee107c47c476e"/>
    <p:sldId xmlns:r="http://schemas.openxmlformats.org/officeDocument/2006/relationships" id="266" r:id="R9ff4f55709ef4d7a"/>
    <p:sldId xmlns:r="http://schemas.openxmlformats.org/officeDocument/2006/relationships" id="267" r:id="R3c22bf6af18c4e77"/>
    <p:sldId xmlns:r="http://schemas.openxmlformats.org/officeDocument/2006/relationships" id="268" r:id="R15612f0ba7a443a4"/>
    <p:sldId xmlns:r="http://schemas.openxmlformats.org/officeDocument/2006/relationships" id="269" r:id="R2d68cbe2f9b2449e"/>
    <p:sldId xmlns:r="http://schemas.openxmlformats.org/officeDocument/2006/relationships" id="270" r:id="R1d606f9bae6e48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8c11beebc940c0" /><Relationship Type="http://schemas.openxmlformats.org/officeDocument/2006/relationships/slideMaster" Target="/ppt/slideMasters/slideMaster1.xml" Id="R7b918ffb7c044455" /><Relationship Type="http://schemas.openxmlformats.org/officeDocument/2006/relationships/notesMaster" Target="/ppt/notesMasters/notesMaster1.xml" Id="R2e6f41408ebd4501" /><Relationship Type="http://schemas.openxmlformats.org/officeDocument/2006/relationships/presProps" Target="/ppt/presProps.xml" Id="Rb0bb5be686d848b4" /><Relationship Type="http://schemas.openxmlformats.org/officeDocument/2006/relationships/tableStyles" Target="/ppt/tableStyles.xml" Id="R8214abf1a4b244d6" /><Relationship Type="http://schemas.openxmlformats.org/officeDocument/2006/relationships/slide" Target="/ppt/slides/slide1.xml" Id="R52b15820f29a4d67" /><Relationship Type="http://schemas.openxmlformats.org/officeDocument/2006/relationships/slide" Target="/ppt/slides/slide2.xml" Id="Rb3ab7ed6139847cc" /><Relationship Type="http://schemas.openxmlformats.org/officeDocument/2006/relationships/slide" Target="/ppt/slides/slide3.xml" Id="R5ce29effc42648e1" /><Relationship Type="http://schemas.openxmlformats.org/officeDocument/2006/relationships/slide" Target="/ppt/slides/slide4.xml" Id="R4647373685d34efc" /><Relationship Type="http://schemas.openxmlformats.org/officeDocument/2006/relationships/slide" Target="/ppt/slides/slide5.xml" Id="Rcea1973c12e74016" /><Relationship Type="http://schemas.openxmlformats.org/officeDocument/2006/relationships/slide" Target="/ppt/slides/slide6.xml" Id="Rda162ea381db426b" /><Relationship Type="http://schemas.openxmlformats.org/officeDocument/2006/relationships/slide" Target="/ppt/slides/slide7.xml" Id="R454e1a1a19fb4068" /><Relationship Type="http://schemas.openxmlformats.org/officeDocument/2006/relationships/slide" Target="/ppt/slides/slide8.xml" Id="Rd21d31e1b4c54e5f" /><Relationship Type="http://schemas.openxmlformats.org/officeDocument/2006/relationships/slide" Target="/ppt/slides/slide9.xml" Id="R0a87428dcbcb4d4f" /><Relationship Type="http://schemas.openxmlformats.org/officeDocument/2006/relationships/slide" Target="/ppt/slides/slide10.xml" Id="R10bee107c47c476e" /><Relationship Type="http://schemas.openxmlformats.org/officeDocument/2006/relationships/slide" Target="/ppt/slides/slide11.xml" Id="R9ff4f55709ef4d7a" /><Relationship Type="http://schemas.openxmlformats.org/officeDocument/2006/relationships/slide" Target="/ppt/slides/slide12.xml" Id="R3c22bf6af18c4e77" /><Relationship Type="http://schemas.openxmlformats.org/officeDocument/2006/relationships/slide" Target="/ppt/slides/slide13.xml" Id="R15612f0ba7a443a4" /><Relationship Type="http://schemas.openxmlformats.org/officeDocument/2006/relationships/slide" Target="/ppt/slides/slide14.xml" Id="R2d68cbe2f9b2449e" /><Relationship Type="http://schemas.openxmlformats.org/officeDocument/2006/relationships/slide" Target="/ppt/slides/slide15.xml" Id="R1d606f9bae6e48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ffe700fd1e40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cb2dfc44e248b2" /><Relationship Type="http://schemas.openxmlformats.org/officeDocument/2006/relationships/notesMaster" Target="/ppt/notesMasters/notesMaster1.xml" Id="Rc3da26196f394e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04888749db46bc" /><Relationship Type="http://schemas.openxmlformats.org/officeDocument/2006/relationships/notesMaster" Target="/ppt/notesMasters/notesMaster1.xml" Id="R331d8ba336ec4d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5c598e49ae4a8c" /><Relationship Type="http://schemas.openxmlformats.org/officeDocument/2006/relationships/notesMaster" Target="/ppt/notesMasters/notesMaster1.xml" Id="Rd25d9e3cd4554b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f811e90acc4996" /><Relationship Type="http://schemas.openxmlformats.org/officeDocument/2006/relationships/notesMaster" Target="/ppt/notesMasters/notesMaster1.xml" Id="Rcf777cafdeeb45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6cda69445e4a2e" /><Relationship Type="http://schemas.openxmlformats.org/officeDocument/2006/relationships/notesMaster" Target="/ppt/notesMasters/notesMaster1.xml" Id="R76cb41526f0545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6bec3f506b4ffe" /><Relationship Type="http://schemas.openxmlformats.org/officeDocument/2006/relationships/notesMaster" Target="/ppt/notesMasters/notesMaster1.xml" Id="R4308674f625b46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b7eb01ba524823" /><Relationship Type="http://schemas.openxmlformats.org/officeDocument/2006/relationships/notesMaster" Target="/ppt/notesMasters/notesMaster1.xml" Id="Rd1c5a85cd5f641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22212732334bbe" /><Relationship Type="http://schemas.openxmlformats.org/officeDocument/2006/relationships/notesMaster" Target="/ppt/notesMasters/notesMaster1.xml" Id="R46c53b2e1f9b46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c581a505f04628" /><Relationship Type="http://schemas.openxmlformats.org/officeDocument/2006/relationships/notesMaster" Target="/ppt/notesMasters/notesMaster1.xml" Id="Rebeac520700f42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10e35be96a46b7" /><Relationship Type="http://schemas.openxmlformats.org/officeDocument/2006/relationships/notesMaster" Target="/ppt/notesMasters/notesMaster1.xml" Id="Rbdca6dd961fb4c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1de0835a794a3c" /><Relationship Type="http://schemas.openxmlformats.org/officeDocument/2006/relationships/notesMaster" Target="/ppt/notesMasters/notesMaster1.xml" Id="R0df80bb514bd49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9c538e3a394559" /><Relationship Type="http://schemas.openxmlformats.org/officeDocument/2006/relationships/notesMaster" Target="/ppt/notesMasters/notesMaster1.xml" Id="R1a874718c1404c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26ed42e7204a8d" /><Relationship Type="http://schemas.openxmlformats.org/officeDocument/2006/relationships/notesMaster" Target="/ppt/notesMasters/notesMaster1.xml" Id="R0cf3a215bf0343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80951d81e24901" /><Relationship Type="http://schemas.openxmlformats.org/officeDocument/2006/relationships/notesMaster" Target="/ppt/notesMasters/notesMaster1.xml" Id="Rf7f9a2833f414f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7469f26d774fa3" /><Relationship Type="http://schemas.openxmlformats.org/officeDocument/2006/relationships/notesMaster" Target="/ppt/notesMasters/notesMaster1.xml" Id="Raf0ff961ee854c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handoff addresses pathway concordance between relapse-associated T-ALL transcription and constitutively active STAT5B. The biological hypothesis concerns mitochondrial and protein quality control. The comparison first examines complete KEGG enrichment and its direction-matched overlap. Top15 was selected after exploratory sensitivity analysis. Within-catalog BH FDR does not adjust for selection across analysis settings. Pooled reference q95 is a different absolute threshold, not an outcome-independent derivation of within-sample15%. RNA-based CNV and broad marker annotations do not independently validate malignancy. GSEA measures transcriptional enrichment, not mitophagy flux, proteasome activity or drug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GSE262271: 3 paired T-ALL patients. Potential malignant T cells are candidate T-lineage cells selected by within-sample CNV top15 under the stored original QC. Patient-sample pseudobulk raw counts are analysed with edgeR ~patient_pair + condition_simple. Rank = sign(logFC)*sqrt(F). Mouse GSE218858: STAT5B N642H vs control, independent n3 vs3, DESeq2 ~condition, ranked by Wald statistic. fgseaMultilevel uses fixed seed20260915, sampleSize501, nPermSimple50000, eps0. BH FDR is calculated separately over the full tested human KEGG353 and mouse KEGG300 collections. Cross-dataset overlap uses275 common tested canonical pathway names. Sample pairs: P1 M104/M127, P2 M143/M148, P3 M187/M187r. GEO: https://www.ncbi.nlm.nih.gov/geo/query/acc.cgi?acc=GSE262271 ; https://www.ncbi.nlm.nih.gov/geo/query/acc.cgi?acc=GSE218858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Figure01A. UMAP of13953 cells. The six colours map to reviewed broad lineages, with the same palette used in the marker plot. T-lineage candidate12828, B459, myeloid284, pDC27, erythroid97, cytotoxic T/NK258. Coordinates and cell identities are unchanged. Broad annotation is supported by cluster markers. Candidate T lineage and CNV-high selection are separate steps. Top15 was selected after exploratory sensitivity analysis. Within-catalog BH FDR does not adjust for selection across analysis settings. Pooled reference q95 is a different absolute threshold, not an outcome-independent derivation of within-sample15%. RNA-based CNV and broad marker annotations do not independently validate malignancy. GSEA measures transcriptional enrichment, not mitophagy flux, proteasome activity or drug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Figure01B. Six reviewed broad lineages and the original canonical marker panel. Mean log-expression and percent expressing cells are pooled using cluster cell counts as weights, then mean expression is z-scored within gene across the six lineages. Each row label and its colour strip use the same cell type mapping as Figure01A. All20 individual cluster profiles remain in FigureS07. Exact pooled summaries are stored in annotation_lineage_marker_summary.csv; original cluster data are in annotation_marker_evidence.csv. This descriptive summary does not reassign any 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Figure02. Selected cell counts: P1 diagnosis434, relapse449; P2 diagnosis342, relapse295; P3 diagnosis107, relapse299. Each bar is one patient-sample pseudobulk. Fixed within-sample selection fractions do not estimate the prevalence of malignant cells. Human GSE262271: 3 paired T-ALL patients. Potential malignant T cells are candidate T-lineage cells selected by within-sample CNV top15 under the stored original QC. Patient-sample pseudobulk raw counts are analysed with edgeR ~patient_pair + condition_simple. Rank = sign(logFC)*sqrt(F). Mouse GSE218858: STAT5B N642H vs control, independent n3 vs3, DESeq2 ~condition, ranked by Wald statistic. fgseaMultilevel uses fixed seed20260915, sampleSize501, nPermSimple50000, eps0. BH FDR is calculated separately over the full tested human KEGG353 and mouse KEGG300 collections. Cross-dataset overlap uses275 common tested canonical pathway names. Top15 was selected after exploratory sensitivity analysis. Within-catalog BH FDR does not adjust for selection across analysis settings. Pooled reference q95 is a different absolute threshold, not an outcome-independent derivation of within-sample15%. RNA-based CNV and broad marker annotations do not independently validate malignancy. GSEA measures transcriptional enrichment, not mitophagy flux, proteasome activity or drug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Figure03B. Top8 significant pathways per direction, ordered within direction by full-catalog FDR. Only2 downregulated pathways pass FDR&lt;0.05, so both are shown. Complete353-pathway results are in Table04. Stars use unrounded full-KEGG FDR. Disease-related pathway names refer to gene sets, not diagnoses. Human GSE262271: 3 paired T-ALL patients. Potential malignant T cells are candidate T-lineage cells selected by within-sample CNV top15 under the stored original QC. Patient-sample pseudobulk raw counts are analysed with edgeR ~patient_pair + condition_simple. Rank = sign(logFC)*sqrt(F). Mouse GSE218858: STAT5B N642H vs control, independent n3 vs3, DESeq2 ~condition, ranked by Wald statistic. fgseaMultilevel uses fixed seed20260915, sampleSize501, nPermSimple50000, eps0. BH FDR is calculated separately over the full tested human KEGG353 and mouse KEGG300 collections. Cross-dataset overlap uses275 common tested canonical pathway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Figure04B. Top8 significant pathways per direction, ordered within direction by full-catalog FDR. All6 downregulated pathways are shown. Complete300-pathway results are in Table05. Human and mouse KEGG collections differ. Human GSE262271: 3 paired T-ALL patients. Potential malignant T cells are candidate T-lineage cells selected by within-sample CNV top15 under the stored original QC. Patient-sample pseudobulk raw counts are analysed with edgeR ~patient_pair + condition_simple. Rank = sign(logFC)*sqrt(F). Mouse GSE218858: STAT5B N642H vs control, independent n3 vs3, DESeq2 ~condition, ranked by Wald statistic. fgseaMultilevel uses fixed seed20260915, sampleSize501, nPermSimple50000, eps0. BH FDR is calculated separately over the full tested human KEGG353 and mouse KEGG300 collections. Cross-dataset overlap uses275 common tested canonical pathway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Figure05. The overlap universe is275 common tested canonical KEGG pathway names. Up: sc-only8, shared40, bulk-only55. Down: sc-only2, shared0, bulk-only6. Circle areas are schematic, not proportional to counts. Pathways absent from one catalog are excluded from the overlap universe. Complete membership Table06;40 shared pathways Table07.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Figure06B. First20 of the complete40 shared pathways. Order is increasing max(sc_FDR,bulk_FDR), alphabetical pathway ties. This is a display sort, not a combined FDR. Proteasome is row14. X=NES, stars use unrounded full-KEGG BH FDR, all labels plain. Exact source Table07. Positive NES means higher in relapse or N642H respectively.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Figure06C. Remaining20 pathways, no omitted intersection members. Mitophagy is row28. Exact names and values are in Table07. Abbreviated labels retain the full names in the source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Figure07. Proteasome: sc NES1.88056919729581/FDR0.00837925505996343, bulk NES1.88731918419017/FDR0.00107780111297412. Mitophagy: sc NES1.6703493502465/FDR0.0131970176091592, bulk NES1.55764616223599/FDR0.028233910102446. General autophagy does not pass FDR0.05. Filled/open circles distinguish significant/non-significant results; dash means absent from the tested catalog. Table08 contains source values. Top15 was selected after exploratory sensitivity analysis. Within-catalog BH FDR does not adjust for selection across analysis settings. Pooled reference q95 is a different absolute threshold, not an outcome-independent derivation of within-sample15%. RNA-based CNV and broad marker annotations do not independently validate malignancy. GSEA measures transcriptional enrichment, not mitophagy flux, proteasome activity or drug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Figure08. Mean pseudobulk log2CPM across pathway leading-edge genes from the same GSEA. Lines connect diagnosis and relapse for each of3 patients. Both pathway means increase in all3 pairs. The common y-axis allows comparable visual slopes. This descriptive display reuses selected genes and is not an independent test. Values in Table09.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includes867 non-T cells. q95=0.026945532400026. Candidates12828, above q951978 (15.419%), top151926, overlap1407 (73.053% of top15). Minimum retained sample107 for top15,66 for reference-q95 selection. q95 is an empirical percentile of RNA-CNV scores, not a P value or probability of cancer. Top15 was selected after exploratory sensitivity analysis. Within-catalog BH FDR does not adjust for selection across analysis settings. Pooled reference q95 is a different absolute threshold, not an outcome-independent derivation of within-sample15%. RNA-based CNV and broad marker annotations do not independently validate malignancy. GSEA measures transcriptional enrichment, not mitophagy flux, proteasome activity or drug response. See TablesS02,S03,S06 and FigureS06 for sensitivity.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pathways support transcriptional concordance across two different contexts and species. The mitochondrial-STAT5 mechanism is a research hypothesis. Neither dataset directly measures STAT5 mitochondrial localisation, autophagic flux, proteasome activity, bortezomib response or resistance. These functional links require new evidence. Top15 was selected after exploratory sensitivity analysis. Within-catalog BH FDR does not adjust for selection across analysis settings. Pooled reference q95 is a different absolute threshold, not an outcome-independent derivation of within-sample15%. RNA-based CNV and broad marker annotations do not independently validate malignancy. GSEA measures transcriptional enrichment, not mitophagy flux, proteasome activity or drug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Code22 refits count models and performs GSEA,23 generates tables,24 independently checks reproduction,25 generates supplementary evidence,26 draws the complete shared-pathway dots and27 applies the current figure style. run_reviewed_analysis.ps1 accepts project and bulk data roots. The original raw data and large R objects remain local. Figure design reference: https://research-figure-guide.nature.com/figures/preparing-figures-our-specifications/ . Scientific graphics are R-generated; PNG is embedded for presentation and vector PDF is supplied for figure editing.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c6f02a336249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5571b5e538466d" /><Relationship Type="http://schemas.openxmlformats.org/officeDocument/2006/relationships/slideLayout" Target="/ppt/slideLayouts/slideLayout1.xml" Id="R05861ae03a084d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861ae03a084d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0c59e9f1274019" /><Relationship Type="http://schemas.openxmlformats.org/officeDocument/2006/relationships/notesSlide" Target="/ppt/notesSlides/notesSlide1.xml" Id="Re9149001d5344b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08b142033d47fb" /><Relationship Type="http://schemas.openxmlformats.org/officeDocument/2006/relationships/notesSlide" Target="/ppt/notesSlides/notesSlide2.xml" Id="Re0e3725310fd4b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e406f5309d44b9" /><Relationship Type="http://schemas.openxmlformats.org/officeDocument/2006/relationships/image" Target="/ppt/media/image.png" Id="Rdda5bea5c35647c2" /><Relationship Type="http://schemas.openxmlformats.org/officeDocument/2006/relationships/notesSlide" Target="/ppt/notesSlides/notesSlide3.xml" Id="R9ffc34ad89ef4e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55990d3d6f4473" /><Relationship Type="http://schemas.openxmlformats.org/officeDocument/2006/relationships/image" Target="/ppt/media/image2.png" Id="Rfac38ef2ae644efe" /><Relationship Type="http://schemas.openxmlformats.org/officeDocument/2006/relationships/notesSlide" Target="/ppt/notesSlides/notesSlide4.xml" Id="R6d91a06caec248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b964adf34e465d" /><Relationship Type="http://schemas.openxmlformats.org/officeDocument/2006/relationships/image" Target="/ppt/media/image3.png" Id="R3e915a9a41bb4e02" /><Relationship Type="http://schemas.openxmlformats.org/officeDocument/2006/relationships/notesSlide" Target="/ppt/notesSlides/notesSlide5.xml" Id="R7309487afa0242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01462f19bb41fd" /><Relationship Type="http://schemas.openxmlformats.org/officeDocument/2006/relationships/image" Target="/ppt/media/image4.png" Id="Rd3532ff79e774dea" /><Relationship Type="http://schemas.openxmlformats.org/officeDocument/2006/relationships/notesSlide" Target="/ppt/notesSlides/notesSlide6.xml" Id="R773e25a87c9b48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73555dfcb74d83" /><Relationship Type="http://schemas.openxmlformats.org/officeDocument/2006/relationships/image" Target="/ppt/media/image5.png" Id="Rc92b2674a4de4e16" /><Relationship Type="http://schemas.openxmlformats.org/officeDocument/2006/relationships/notesSlide" Target="/ppt/notesSlides/notesSlide7.xml" Id="Rc5202c9c7dd644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1358ae64af48e9" /><Relationship Type="http://schemas.openxmlformats.org/officeDocument/2006/relationships/image" Target="/ppt/media/image6.png" Id="R39949db0c55a4608" /><Relationship Type="http://schemas.openxmlformats.org/officeDocument/2006/relationships/notesSlide" Target="/ppt/notesSlides/notesSlide8.xml" Id="R33986694b42f46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63d861eb374c25" /><Relationship Type="http://schemas.openxmlformats.org/officeDocument/2006/relationships/image" Target="/ppt/media/image7.png" Id="R5ec7fe2eee4441e3" /><Relationship Type="http://schemas.openxmlformats.org/officeDocument/2006/relationships/notesSlide" Target="/ppt/notesSlides/notesSlide9.xml" Id="Ra561ad2752834a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45779d3e76403e" /><Relationship Type="http://schemas.openxmlformats.org/officeDocument/2006/relationships/image" Target="/ppt/media/image8.png" Id="R9cd83e46993441c3" /><Relationship Type="http://schemas.openxmlformats.org/officeDocument/2006/relationships/notesSlide" Target="/ppt/notesSlides/notesSlide10.xml" Id="Rcdccdc144e3e41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5108bb399340fa" /><Relationship Type="http://schemas.openxmlformats.org/officeDocument/2006/relationships/image" Target="/ppt/media/image9.png" Id="Ra5d96ac2d3354c0e" /><Relationship Type="http://schemas.openxmlformats.org/officeDocument/2006/relationships/notesSlide" Target="/ppt/notesSlides/notesSlide11.xml" Id="R9eb2aa77b2d24f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66377ca08b4bab" /><Relationship Type="http://schemas.openxmlformats.org/officeDocument/2006/relationships/image" Target="/ppt/media/image10.png" Id="R0d71b062d35c4cee" /><Relationship Type="http://schemas.openxmlformats.org/officeDocument/2006/relationships/notesSlide" Target="/ppt/notesSlides/notesSlide12.xml" Id="R7bb98a8fe1ab42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e673207dd1f44d2" /><Relationship Type="http://schemas.openxmlformats.org/officeDocument/2006/relationships/notesSlide" Target="/ppt/notesSlides/notesSlide13.xml" Id="R07a2674b5b7048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6a7d21b4444915" /><Relationship Type="http://schemas.openxmlformats.org/officeDocument/2006/relationships/notesSlide" Target="/ppt/notesSlides/notesSlide14.xml" Id="R8ccf505727a64f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e33b3c839f4feb" /><Relationship Type="http://schemas.openxmlformats.org/officeDocument/2006/relationships/notesSlide" Target="/ppt/notesSlides/notesSlide15.xml" Id="R8c4b1e102c0f487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3FCCA0-86D6-4D94-9E55-5F9BD10EB95A}"/>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T-ALL relapse 與 STAT5B 活化</a:t>
            </a:r>
          </a:p>
        </p:txBody>
      </p:sp>
      <p:sp>
        <p:nvSpPr>
          <p:cNvPr id="2" name="">
            <a:extLst xmlns:a="http://schemas.openxmlformats.org/drawingml/2006/main">
              <a:ext uri="{FF2B5EF4-FFF2-40B4-BE49-F238E27FC236}">
                <a16:creationId xmlns:a16="http://schemas.microsoft.com/office/drawing/2014/main" id="{AD6465C1-DDEF-4576-B7FA-0F594647AA17}"/>
              </a:ext>
            </a:extLst>
          </p:cNvPr>
          <p:cNvSpPr>
            <a:spLocks xmlns:a="http://schemas.openxmlformats.org/drawingml/2006/main" noGrp="1"/>
          </p:cNvSpPr>
          <p:nvPr/>
        </p:nvSpPr>
        <p:spPr>
          <a:xfrm xmlns:a="http://schemas.openxmlformats.org/drawingml/2006/main">
            <a:off x="619125" y="18573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020"/>
                </a:solidFill>
                <a:latin typeface="Microsoft JhengHei"/>
                <a:ea typeface="Microsoft JhengHei"/>
                <a:cs typeface="Microsoft JhengHei"/>
              </a:defRPr>
            </a:pPr>
            <a:r>
              <a:rPr sz="3450" b="1">
                <a:solidFill>
                  <a:srgbClr val="202020"/>
                </a:solidFill>
                <a:latin typeface="Microsoft JhengHei"/>
                <a:ea typeface="Microsoft JhengHei"/>
                <a:cs typeface="Microsoft JhengHei"/>
              </a:rPr>
              <a:t>共同的轉錄路徑</a:t>
            </a:r>
          </a:p>
        </p:txBody>
      </p:sp>
      <p:sp>
        <p:nvSpPr>
          <p:cNvPr id="3" name="">
            <a:extLst xmlns:a="http://schemas.openxmlformats.org/drawingml/2006/main">
              <a:ext uri="{FF2B5EF4-FFF2-40B4-BE49-F238E27FC236}">
                <a16:creationId xmlns:a16="http://schemas.microsoft.com/office/drawing/2014/main" id="{389F6018-37D1-48BF-BF58-7042A1CEDA4F}"/>
              </a:ext>
            </a:extLst>
          </p:cNvPr>
          <p:cNvSpPr>
            <a:spLocks xmlns:a="http://schemas.openxmlformats.org/drawingml/2006/main" noGrp="1"/>
          </p:cNvSpPr>
          <p:nvPr/>
        </p:nvSpPr>
        <p:spPr>
          <a:xfrm xmlns:a="http://schemas.openxmlformats.org/drawingml/2006/main">
            <a:off x="638175" y="30480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020"/>
                </a:solidFill>
                <a:latin typeface="Microsoft JhengHei"/>
                <a:ea typeface="Microsoft JhengHei"/>
                <a:cs typeface="Microsoft JhengHei"/>
              </a:defRPr>
            </a:pPr>
            <a:r>
              <a:rPr sz="2025" b="0">
                <a:solidFill>
                  <a:srgbClr val="202020"/>
                </a:solidFill>
                <a:latin typeface="Microsoft JhengHei"/>
                <a:ea typeface="Microsoft JhengHei"/>
                <a:cs typeface="Microsoft JhengHei"/>
              </a:rPr>
              <a:t>配對 single-cell RNA-seq 與 STAT5B N642H bulk RNA-seq</a:t>
            </a:r>
          </a:p>
        </p:txBody>
      </p:sp>
      <p:sp>
        <p:nvSpPr>
          <p:cNvPr id="4" name="">
            <a:extLst xmlns:a="http://schemas.openxmlformats.org/drawingml/2006/main">
              <a:ext uri="{FF2B5EF4-FFF2-40B4-BE49-F238E27FC236}">
                <a16:creationId xmlns:a16="http://schemas.microsoft.com/office/drawing/2014/main" id="{141FA3D8-A1F7-4D37-A318-2D9196D1F4F8}"/>
              </a:ext>
            </a:extLst>
          </p:cNvPr>
          <p:cNvSpPr>
            <a:spLocks xmlns:a="http://schemas.openxmlformats.org/drawingml/2006/main" noGrp="1"/>
          </p:cNvSpPr>
          <p:nvPr/>
        </p:nvSpPr>
        <p:spPr>
          <a:xfrm xmlns:a="http://schemas.openxmlformats.org/drawingml/2006/main">
            <a:off x="638175" y="4476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020"/>
                </a:solidFill>
                <a:latin typeface="Microsoft JhengHei"/>
                <a:ea typeface="Microsoft JhengHei"/>
                <a:cs typeface="Microsoft JhengHei"/>
              </a:defRPr>
            </a:pPr>
            <a:r>
              <a:rPr sz="1950" b="0">
                <a:solidFill>
                  <a:srgbClr val="202020"/>
                </a:solidFill>
                <a:latin typeface="Microsoft JhengHei"/>
                <a:ea typeface="Microsoft JhengHei"/>
                <a:cs typeface="Microsoft JhengHei"/>
              </a:rPr>
              <a:t>GSE262271  /  GSE218858</a:t>
            </a:r>
          </a:p>
        </p:txBody>
      </p:sp>
      <p:sp>
        <p:nvSpPr>
          <p:cNvPr id="5" name="">
            <a:extLst xmlns:a="http://schemas.openxmlformats.org/drawingml/2006/main">
              <a:ext uri="{FF2B5EF4-FFF2-40B4-BE49-F238E27FC236}">
                <a16:creationId xmlns:a16="http://schemas.microsoft.com/office/drawing/2014/main" id="{7F5F7C86-2748-4F93-8DE1-C28B8170E933}"/>
              </a:ext>
            </a:extLst>
          </p:cNvPr>
          <p:cNvSpPr>
            <a:spLocks xmlns:a="http://schemas.openxmlformats.org/drawingml/2006/main" noGrp="1"/>
          </p:cNvSpPr>
          <p:nvPr/>
        </p:nvSpPr>
        <p:spPr>
          <a:xfrm xmlns:a="http://schemas.openxmlformats.org/drawingml/2006/main">
            <a:off x="638175" y="5448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Microsoft JhengHei"/>
                <a:ea typeface="Microsoft JhengHei"/>
                <a:cs typeface="Microsoft JhengHei"/>
              </a:defRPr>
            </a:pPr>
            <a:r>
              <a:rPr sz="1875" b="0">
                <a:solidFill>
                  <a:srgbClr val="202020"/>
                </a:solidFill>
                <a:latin typeface="Microsoft JhengHei"/>
                <a:ea typeface="Microsoft JhengHei"/>
                <a:cs typeface="Microsoft JhengHei"/>
              </a:rPr>
              <a:t>研究問題：復發與 STAT5B 活化是否伴隨相同的細胞程式？</a:t>
            </a:r>
          </a:p>
        </p:txBody>
      </p:sp>
    </p:spTree>
    <p:extLst>
      <p:ext uri="{BB962C8B-B14F-4D97-AF65-F5344CB8AC3E}">
        <p14:creationId xmlns:p14="http://schemas.microsoft.com/office/powerpoint/2010/main" val="7188523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DBF2512-1706-42D7-ABEE-AFA7D66846D8}"/>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資料集與分析設計</a:t>
            </a:r>
          </a:p>
        </p:txBody>
      </p:sp>
      <p:graphicFrame>
        <p:nvGraphicFramePr>
          <p:cNvPr id="5" name=""/>
          <p:cNvGraphicFramePr/>
          <p:nvPr/>
        </p:nvGraphicFramePr>
        <p:xfrm>
          <a:off xmlns:a="http://schemas.openxmlformats.org/drawingml/2006/main" x="571500" y="1476375"/>
          <a:ext xmlns:a="http://schemas.openxmlformats.org/drawingml/2006/main" cx="11049000" cy="3143250"/>
        </p:xfrm>
        <a:graphic xmlns:a="http://schemas.openxmlformats.org/drawingml/2006/main">
          <a:graphicData uri="http://schemas.openxmlformats.org/drawingml/2006/table">
            <a:tbl>
              <a:tblPr firstRow="1" bandRow="0"/>
              <a:tblGrid>
                <a:gridCol w="3238500"/>
                <a:gridCol w="3714750"/>
                <a:gridCol w="4095750"/>
              </a:tblGrid>
              <a:tr h="495300">
                <a:tc>
                  <a:txBody>
                    <a:bodyPr/>
                    <a:lstStyle/>
                    <a:p>
                      <a:r>
                        <a:rPr sz="1800" b="1">
                          <a:solidFill>
                            <a:srgbClr val="202020"/>
                          </a:solidFill>
                          <a:latin typeface="Microsoft JhengHei"/>
                          <a:ea typeface="Microsoft JhengHei"/>
                          <a:cs typeface="Microsoft JhengHei"/>
                        </a:rPr>
                        <a:t>資料集</a:t>
                      </a:r>
                    </a:p>
                  </a:txBody>
                  <a:tcPr marL="91440" marR="91440" marT="45720" marB="45720">
                    <a:solidFill>
                      <a:srgbClr val="F0F0F0"/>
                    </a:solidFill>
                  </a:tcPr>
                </a:tc>
                <a:tc>
                  <a:txBody>
                    <a:bodyPr/>
                    <a:lstStyle/>
                    <a:p>
                      <a:r>
                        <a:rPr sz="1800" b="1">
                          <a:solidFill>
                            <a:srgbClr val="202020"/>
                          </a:solidFill>
                          <a:latin typeface="Microsoft JhengHei"/>
                          <a:ea typeface="Microsoft JhengHei"/>
                          <a:cs typeface="Microsoft JhengHei"/>
                        </a:rPr>
                        <a:t>生物樣本</a:t>
                      </a:r>
                    </a:p>
                  </a:txBody>
                  <a:tcPr marL="91440" marR="91440" marT="45720" marB="45720">
                    <a:solidFill>
                      <a:srgbClr val="F0F0F0"/>
                    </a:solidFill>
                  </a:tcPr>
                </a:tc>
                <a:tc>
                  <a:txBody>
                    <a:bodyPr/>
                    <a:lstStyle/>
                    <a:p>
                      <a:r>
                        <a:rPr sz="1800" b="1">
                          <a:solidFill>
                            <a:srgbClr val="202020"/>
                          </a:solidFill>
                          <a:latin typeface="Microsoft JhengHei"/>
                          <a:ea typeface="Microsoft JhengHei"/>
                          <a:cs typeface="Microsoft JhengHei"/>
                        </a:rPr>
                        <a:t>GSEA 排名來源</a:t>
                      </a:r>
                    </a:p>
                  </a:txBody>
                  <a:tcPr marL="91440" marR="91440" marT="45720" marB="45720">
                    <a:solidFill>
                      <a:srgbClr val="F0F0F0"/>
                    </a:solidFill>
                  </a:tcPr>
                </a:tc>
              </a:tr>
              <a:tr h="1323975">
                <a:tc>
                  <a:txBody>
                    <a:bodyPr/>
                    <a:lstStyle/>
                    <a:p>
                      <a:r>
                        <a:rPr sz="1800">
                          <a:solidFill>
                            <a:srgbClr val="202020"/>
                          </a:solidFill>
                          <a:latin typeface="Microsoft JhengHei"/>
                          <a:ea typeface="Microsoft JhengHei"/>
                          <a:cs typeface="Microsoft JhengHei"/>
                        </a:rPr>
                        <a:t>GSE262271</a:t>
                      </a:r>
                    </a:p>
                    <a:p>
                      <a:r>
                        <a:rPr sz="1800">
                          <a:solidFill>
                            <a:srgbClr val="202020"/>
                          </a:solidFill>
                          <a:latin typeface="Microsoft JhengHei"/>
                          <a:ea typeface="Microsoft JhengHei"/>
                          <a:cs typeface="Microsoft JhengHei"/>
                        </a:rPr>
                        <a:t>Human T-ALL scRNA-seq</a:t>
                      </a:r>
                    </a:p>
                  </a:txBody>
                  <a:tcPr marL="91440" marR="91440" marT="45720" marB="45720"/>
                </a:tc>
                <a:tc>
                  <a:txBody>
                    <a:bodyPr/>
                    <a:lstStyle/>
                    <a:p>
                      <a:r>
                        <a:rPr sz="1800">
                          <a:solidFill>
                            <a:srgbClr val="202020"/>
                          </a:solidFill>
                          <a:latin typeface="Microsoft JhengHei"/>
                          <a:ea typeface="Microsoft JhengHei"/>
                          <a:cs typeface="Microsoft JhengHei"/>
                        </a:rPr>
                        <a:t>3 位病人</a:t>
                      </a:r>
                    </a:p>
                    <a:p>
                      <a:r>
                        <a:rPr sz="1800">
                          <a:solidFill>
                            <a:srgbClr val="202020"/>
                          </a:solidFill>
                          <a:latin typeface="Microsoft JhengHei"/>
                          <a:ea typeface="Microsoft JhengHei"/>
                          <a:cs typeface="Microsoft JhengHei"/>
                        </a:rPr>
                        <a:t>Diagnosis / relapse 配對</a:t>
                      </a:r>
                    </a:p>
                  </a:txBody>
                  <a:tcPr marL="91440" marR="91440" marT="45720" marB="45720"/>
                </a:tc>
                <a:tc>
                  <a:txBody>
                    <a:bodyPr/>
                    <a:lstStyle/>
                    <a:p>
                      <a:r>
                        <a:rPr sz="1800">
                          <a:solidFill>
                            <a:srgbClr val="202020"/>
                          </a:solidFill>
                          <a:latin typeface="Microsoft JhengHei"/>
                          <a:ea typeface="Microsoft JhengHei"/>
                          <a:cs typeface="Microsoft JhengHei"/>
                        </a:rPr>
                        <a:t>Paired pseudobulk</a:t>
                      </a:r>
                    </a:p>
                    <a:p>
                      <a:r>
                        <a:rPr sz="1800">
                          <a:solidFill>
                            <a:srgbClr val="202020"/>
                          </a:solidFill>
                          <a:latin typeface="Microsoft JhengHei"/>
                          <a:ea typeface="Microsoft JhengHei"/>
                          <a:cs typeface="Microsoft JhengHei"/>
                        </a:rPr>
                        <a:t>edgeR: patient + condition</a:t>
                      </a:r>
                    </a:p>
                  </a:txBody>
                  <a:tcPr marL="91440" marR="91440" marT="45720" marB="45720"/>
                </a:tc>
              </a:tr>
              <a:tr h="1323975">
                <a:tc>
                  <a:txBody>
                    <a:bodyPr/>
                    <a:lstStyle/>
                    <a:p>
                      <a:r>
                        <a:rPr sz="1800">
                          <a:solidFill>
                            <a:srgbClr val="202020"/>
                          </a:solidFill>
                          <a:latin typeface="Microsoft JhengHei"/>
                          <a:ea typeface="Microsoft JhengHei"/>
                          <a:cs typeface="Microsoft JhengHei"/>
                        </a:rPr>
                        <a:t>GSE218858</a:t>
                      </a:r>
                    </a:p>
                    <a:p>
                      <a:r>
                        <a:rPr sz="1800">
                          <a:solidFill>
                            <a:srgbClr val="202020"/>
                          </a:solidFill>
                          <a:latin typeface="Microsoft JhengHei"/>
                          <a:ea typeface="Microsoft JhengHei"/>
                          <a:cs typeface="Microsoft JhengHei"/>
                        </a:rPr>
                        <a:t>Mouse bulk RNA-seq</a:t>
                      </a:r>
                    </a:p>
                  </a:txBody>
                  <a:tcPr marL="91440" marR="91440" marT="45720" marB="45720"/>
                </a:tc>
                <a:tc>
                  <a:txBody>
                    <a:bodyPr/>
                    <a:lstStyle/>
                    <a:p>
                      <a:r>
                        <a:rPr sz="1800">
                          <a:solidFill>
                            <a:srgbClr val="202020"/>
                          </a:solidFill>
                          <a:latin typeface="Microsoft JhengHei"/>
                          <a:ea typeface="Microsoft JhengHei"/>
                          <a:cs typeface="Microsoft JhengHei"/>
                        </a:rPr>
                        <a:t>STAT5B N642H：n = 3</a:t>
                      </a:r>
                    </a:p>
                    <a:p>
                      <a:r>
                        <a:rPr sz="1800">
                          <a:solidFill>
                            <a:srgbClr val="202020"/>
                          </a:solidFill>
                          <a:latin typeface="Microsoft JhengHei"/>
                          <a:ea typeface="Microsoft JhengHei"/>
                          <a:cs typeface="Microsoft JhengHei"/>
                        </a:rPr>
                        <a:t>Control：n = 3</a:t>
                      </a:r>
                    </a:p>
                  </a:txBody>
                  <a:tcPr marL="91440" marR="91440" marT="45720" marB="45720"/>
                </a:tc>
                <a:tc>
                  <a:txBody>
                    <a:bodyPr/>
                    <a:lstStyle/>
                    <a:p>
                      <a:r>
                        <a:rPr sz="1800">
                          <a:solidFill>
                            <a:srgbClr val="202020"/>
                          </a:solidFill>
                          <a:latin typeface="Microsoft JhengHei"/>
                          <a:ea typeface="Microsoft JhengHei"/>
                          <a:cs typeface="Microsoft JhengHei"/>
                        </a:rPr>
                        <a:t>DESeq2: condition</a:t>
                      </a:r>
                    </a:p>
                    <a:p>
                      <a:r>
                        <a:rPr sz="1800">
                          <a:solidFill>
                            <a:srgbClr val="202020"/>
                          </a:solidFill>
                          <a:latin typeface="Microsoft JhengHei"/>
                          <a:ea typeface="Microsoft JhengHei"/>
                          <a:cs typeface="Microsoft JhengHei"/>
                        </a:rPr>
                        <a:t>Wald statistic</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0CB5B7A0-CBF8-45DE-9D26-7E151964EAA4}"/>
              </a:ext>
            </a:extLst>
          </p:cNvPr>
          <p:cNvSpPr>
            <a:spLocks xmlns:a="http://schemas.openxmlformats.org/drawingml/2006/main" noGrp="1"/>
          </p:cNvSpPr>
          <p:nvPr/>
        </p:nvSpPr>
        <p:spPr>
          <a:xfrm xmlns:a="http://schemas.openxmlformats.org/drawingml/2006/main">
            <a:off x="619125" y="5286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020"/>
                </a:solidFill>
                <a:latin typeface="Microsoft JhengHei"/>
                <a:ea typeface="Microsoft JhengHei"/>
                <a:cs typeface="Microsoft JhengHei"/>
              </a:defRPr>
            </a:pPr>
            <a:r>
              <a:rPr sz="1800" b="0">
                <a:solidFill>
                  <a:srgbClr val="202020"/>
                </a:solidFill>
                <a:latin typeface="Microsoft JhengHei"/>
                <a:ea typeface="Microsoft JhengHei"/>
                <a:cs typeface="Microsoft JhengHei"/>
              </a:rPr>
              <a:t>正 NES：relapse 較高（single-cell）或 N642H 較高（bulk）</a:t>
            </a:r>
          </a:p>
        </p:txBody>
      </p:sp>
    </p:spTree>
    <p:extLst>
      <p:ext uri="{BB962C8B-B14F-4D97-AF65-F5344CB8AC3E}">
        <p14:creationId xmlns:p14="http://schemas.microsoft.com/office/powerpoint/2010/main" val="8638444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1D3BC2D-C5F3-4FF4-9F88-22439BD06DF2}"/>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Cell type annotation</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da5bea5c35647c2"/>
          <a:stretch xmlns:a="http://schemas.openxmlformats.org/drawingml/2006/main"/>
        </p:blipFill>
        <p:spPr>
          <a:xfrm xmlns:a="http://schemas.openxmlformats.org/drawingml/2006/main">
            <a:off x="2000584" y="990600"/>
            <a:ext cx="8190832" cy="5305425"/>
          </a:xfrm>
          <a:prstGeom xmlns:a="http://schemas.openxmlformats.org/drawingml/2006/main" prst="rect">
            <a:avLst/>
          </a:prstGeom>
        </p:spPr>
      </p:pic>
    </p:spTree>
    <p:extLst>
      <p:ext uri="{BB962C8B-B14F-4D97-AF65-F5344CB8AC3E}">
        <p14:creationId xmlns:p14="http://schemas.microsoft.com/office/powerpoint/2010/main" val="4400430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9389599-AAE6-43CE-BCC6-B4379F999FC6}"/>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Cell type markers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fac38ef2ae644efe"/>
          <a:stretch xmlns:a="http://schemas.openxmlformats.org/drawingml/2006/main"/>
        </p:blipFill>
        <p:spPr>
          <a:xfrm xmlns:a="http://schemas.openxmlformats.org/drawingml/2006/main">
            <a:off x="423522" y="1571625"/>
            <a:ext cx="11344955" cy="4143375"/>
          </a:xfrm>
          <a:prstGeom xmlns:a="http://schemas.openxmlformats.org/drawingml/2006/main" prst="rect">
            <a:avLst/>
          </a:prstGeom>
        </p:spPr>
      </p:pic>
    </p:spTree>
    <p:extLst>
      <p:ext uri="{BB962C8B-B14F-4D97-AF65-F5344CB8AC3E}">
        <p14:creationId xmlns:p14="http://schemas.microsoft.com/office/powerpoint/2010/main" val="5623109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0F079B0-0FEA-4D45-A70E-C35D4309ECBA}"/>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Potential malignant T cells</a:t>
            </a:r>
          </a:p>
        </p:txBody>
      </p:sp>
      <p:sp>
        <p:nvSpPr>
          <p:cNvPr id="2" name="">
            <a:extLst xmlns:a="http://schemas.openxmlformats.org/drawingml/2006/main">
              <a:ext uri="{FF2B5EF4-FFF2-40B4-BE49-F238E27FC236}">
                <a16:creationId xmlns:a16="http://schemas.microsoft.com/office/drawing/2014/main" id="{17158BD3-2B7E-4862-8138-4C0187750CC6}"/>
              </a:ext>
            </a:extLst>
          </p:cNvPr>
          <p:cNvSpPr>
            <a:spLocks xmlns:a="http://schemas.openxmlformats.org/drawingml/2006/main" noGrp="1"/>
          </p:cNvSpPr>
          <p:nvPr/>
        </p:nvSpPr>
        <p:spPr>
          <a:xfrm xmlns:a="http://schemas.openxmlformats.org/drawingml/2006/main">
            <a:off x="619125" y="10668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Microsoft JhengHei"/>
                <a:ea typeface="Microsoft JhengHei"/>
                <a:cs typeface="Microsoft JhengHei"/>
              </a:defRPr>
            </a:pPr>
            <a:r>
              <a:rPr sz="1875" b="0">
                <a:solidFill>
                  <a:srgbClr val="202020"/>
                </a:solidFill>
                <a:latin typeface="Microsoft JhengHei"/>
                <a:ea typeface="Microsoft JhengHei"/>
                <a:cs typeface="Microsoft JhengHei"/>
              </a:rPr>
              <a:t>Within-sample CNV top 15%   ·   1,926 cells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e915a9a41bb4e02"/>
          <a:stretch xmlns:a="http://schemas.openxmlformats.org/drawingml/2006/main"/>
        </p:blipFill>
        <p:spPr>
          <a:xfrm xmlns:a="http://schemas.openxmlformats.org/drawingml/2006/main">
            <a:off x="2010218" y="1666875"/>
            <a:ext cx="8171564" cy="4286250"/>
          </a:xfrm>
          <a:prstGeom xmlns:a="http://schemas.openxmlformats.org/drawingml/2006/main" prst="rect">
            <a:avLst/>
          </a:prstGeom>
        </p:spPr>
      </p:pic>
    </p:spTree>
    <p:extLst>
      <p:ext uri="{BB962C8B-B14F-4D97-AF65-F5344CB8AC3E}">
        <p14:creationId xmlns:p14="http://schemas.microsoft.com/office/powerpoint/2010/main" val="9473164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206108A-EFB2-4121-8944-C3C3D6374C3C}"/>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Single-cell KEGG enrichment</a:t>
            </a:r>
          </a:p>
        </p:txBody>
      </p:sp>
      <p:sp>
        <p:nvSpPr>
          <p:cNvPr id="2" name="">
            <a:extLst xmlns:a="http://schemas.openxmlformats.org/drawingml/2006/main">
              <a:ext uri="{FF2B5EF4-FFF2-40B4-BE49-F238E27FC236}">
                <a16:creationId xmlns:a16="http://schemas.microsoft.com/office/drawing/2014/main" id="{7DDD9F91-5FE2-4060-850D-A56888C1433B}"/>
              </a:ext>
            </a:extLst>
          </p:cNvPr>
          <p:cNvSpPr>
            <a:spLocks xmlns:a="http://schemas.openxmlformats.org/drawingml/2006/main" noGrp="1"/>
          </p:cNvSpPr>
          <p:nvPr/>
        </p:nvSpPr>
        <p:spPr>
          <a:xfrm xmlns:a="http://schemas.openxmlformats.org/drawingml/2006/main">
            <a:off x="619125" y="9715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020"/>
                </a:solidFill>
                <a:latin typeface="Microsoft JhengHei"/>
                <a:ea typeface="Microsoft JhengHei"/>
                <a:cs typeface="Microsoft JhengHei"/>
              </a:defRPr>
            </a:pPr>
            <a:r>
              <a:rPr sz="1800" b="0">
                <a:solidFill>
                  <a:srgbClr val="202020"/>
                </a:solidFill>
                <a:latin typeface="Microsoft JhengHei"/>
                <a:ea typeface="Microsoft JhengHei"/>
                <a:cs typeface="Microsoft JhengHei"/>
              </a:rPr>
              <a:t>61 上調，2 下調   (FDR &lt; 0.05)</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3532ff79e774dea"/>
          <a:stretch xmlns:a="http://schemas.openxmlformats.org/drawingml/2006/main"/>
        </p:blipFill>
        <p:spPr>
          <a:xfrm xmlns:a="http://schemas.openxmlformats.org/drawingml/2006/main">
            <a:off x="1702136" y="1476375"/>
            <a:ext cx="8787728" cy="4810125"/>
          </a:xfrm>
          <a:prstGeom xmlns:a="http://schemas.openxmlformats.org/drawingml/2006/main" prst="rect">
            <a:avLst/>
          </a:prstGeom>
        </p:spPr>
      </p:pic>
    </p:spTree>
    <p:extLst>
      <p:ext uri="{BB962C8B-B14F-4D97-AF65-F5344CB8AC3E}">
        <p14:creationId xmlns:p14="http://schemas.microsoft.com/office/powerpoint/2010/main" val="10127417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D076ED6-F29C-4C39-BB53-E8B773CA66FB}"/>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STAT5B N642H KEGG enrichment</a:t>
            </a:r>
          </a:p>
        </p:txBody>
      </p:sp>
      <p:sp>
        <p:nvSpPr>
          <p:cNvPr id="2" name="">
            <a:extLst xmlns:a="http://schemas.openxmlformats.org/drawingml/2006/main">
              <a:ext uri="{FF2B5EF4-FFF2-40B4-BE49-F238E27FC236}">
                <a16:creationId xmlns:a16="http://schemas.microsoft.com/office/drawing/2014/main" id="{17C5144A-D9F4-49DB-85C2-7972DF037898}"/>
              </a:ext>
            </a:extLst>
          </p:cNvPr>
          <p:cNvSpPr>
            <a:spLocks xmlns:a="http://schemas.openxmlformats.org/drawingml/2006/main" noGrp="1"/>
          </p:cNvSpPr>
          <p:nvPr/>
        </p:nvSpPr>
        <p:spPr>
          <a:xfrm xmlns:a="http://schemas.openxmlformats.org/drawingml/2006/main">
            <a:off x="619125" y="9715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020"/>
                </a:solidFill>
                <a:latin typeface="Microsoft JhengHei"/>
                <a:ea typeface="Microsoft JhengHei"/>
                <a:cs typeface="Microsoft JhengHei"/>
              </a:defRPr>
            </a:pPr>
            <a:r>
              <a:rPr sz="1800" b="0">
                <a:solidFill>
                  <a:srgbClr val="202020"/>
                </a:solidFill>
                <a:latin typeface="Microsoft JhengHei"/>
                <a:ea typeface="Microsoft JhengHei"/>
                <a:cs typeface="Microsoft JhengHei"/>
              </a:rPr>
              <a:t>107 上調，6 下調   (FDR &lt; 0.05)</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92b2674a4de4e16"/>
          <a:stretch xmlns:a="http://schemas.openxmlformats.org/drawingml/2006/main"/>
        </p:blipFill>
        <p:spPr>
          <a:xfrm xmlns:a="http://schemas.openxmlformats.org/drawingml/2006/main">
            <a:off x="2047875" y="1476375"/>
            <a:ext cx="8096250" cy="4857750"/>
          </a:xfrm>
          <a:prstGeom xmlns:a="http://schemas.openxmlformats.org/drawingml/2006/main" prst="rect">
            <a:avLst/>
          </a:prstGeom>
        </p:spPr>
      </p:pic>
    </p:spTree>
    <p:extLst>
      <p:ext uri="{BB962C8B-B14F-4D97-AF65-F5344CB8AC3E}">
        <p14:creationId xmlns:p14="http://schemas.microsoft.com/office/powerpoint/2010/main" val="10003828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E8BBDB-AC9E-48F4-9EB0-FD8B16D0A0F0}"/>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同方向 KEGG pathway 交集</a:t>
            </a:r>
          </a:p>
        </p:txBody>
      </p:sp>
      <p:sp>
        <p:nvSpPr>
          <p:cNvPr id="2" name="">
            <a:extLst xmlns:a="http://schemas.openxmlformats.org/drawingml/2006/main">
              <a:ext uri="{FF2B5EF4-FFF2-40B4-BE49-F238E27FC236}">
                <a16:creationId xmlns:a16="http://schemas.microsoft.com/office/drawing/2014/main" id="{F95671FC-E972-4A3C-BACA-12D1A30E45D0}"/>
              </a:ext>
            </a:extLst>
          </p:cNvPr>
          <p:cNvSpPr>
            <a:spLocks xmlns:a="http://schemas.openxmlformats.org/drawingml/2006/main" noGrp="1"/>
          </p:cNvSpPr>
          <p:nvPr/>
        </p:nvSpPr>
        <p:spPr>
          <a:xfrm xmlns:a="http://schemas.openxmlformats.org/drawingml/2006/main">
            <a:off x="619125" y="10668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Microsoft JhengHei"/>
                <a:ea typeface="Microsoft JhengHei"/>
                <a:cs typeface="Microsoft JhengHei"/>
              </a:defRPr>
            </a:pPr>
            <a:r>
              <a:rPr sz="1875" b="0">
                <a:solidFill>
                  <a:srgbClr val="202020"/>
                </a:solidFill>
                <a:latin typeface="Microsoft JhengHei"/>
                <a:ea typeface="Microsoft JhengHei"/>
                <a:cs typeface="Microsoft JhengHei"/>
              </a:rPr>
              <a:t>兩組均 FDR &lt; 0.05，且 NES 同方向</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949db0c55a4608"/>
          <a:stretch xmlns:a="http://schemas.openxmlformats.org/drawingml/2006/main"/>
        </p:blipFill>
        <p:spPr>
          <a:xfrm xmlns:a="http://schemas.openxmlformats.org/drawingml/2006/main">
            <a:off x="1111704" y="1809750"/>
            <a:ext cx="9968593" cy="38766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8D105E-049E-4C51-B87D-F1841A322438}"/>
              </a:ext>
            </a:extLst>
          </p:cNvPr>
          <p:cNvSpPr>
            <a:spLocks xmlns:a="http://schemas.openxmlformats.org/drawingml/2006/main" noGrp="1"/>
          </p:cNvSpPr>
          <p:nvPr/>
        </p:nvSpPr>
        <p:spPr>
          <a:xfrm xmlns:a="http://schemas.openxmlformats.org/drawingml/2006/main">
            <a:off x="619125" y="59436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Microsoft JhengHei"/>
                <a:ea typeface="Microsoft JhengHei"/>
                <a:cs typeface="Microsoft JhengHei"/>
              </a:defRPr>
            </a:pPr>
            <a:r>
              <a:rPr sz="1875" b="0">
                <a:solidFill>
                  <a:srgbClr val="202020"/>
                </a:solidFill>
                <a:latin typeface="Microsoft JhengHei"/>
                <a:ea typeface="Microsoft JhengHei"/>
                <a:cs typeface="Microsoft JhengHei"/>
              </a:rPr>
              <a:t>共同上調 40 條，共同下調 0 條</a:t>
            </a:r>
          </a:p>
        </p:txBody>
      </p:sp>
    </p:spTree>
    <p:extLst>
      <p:ext uri="{BB962C8B-B14F-4D97-AF65-F5344CB8AC3E}">
        <p14:creationId xmlns:p14="http://schemas.microsoft.com/office/powerpoint/2010/main" val="10543640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EEAEFBEB-12D1-4902-A759-E65FDFFA2DA7}"/>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共同上調 pathways：1–20</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ec7fe2eee4441e3"/>
          <a:stretch xmlns:a="http://schemas.openxmlformats.org/drawingml/2006/main"/>
        </p:blipFill>
        <p:spPr>
          <a:xfrm xmlns:a="http://schemas.openxmlformats.org/drawingml/2006/main">
            <a:off x="902412" y="1057275"/>
            <a:ext cx="10387177" cy="5238750"/>
          </a:xfrm>
          <a:prstGeom xmlns:a="http://schemas.openxmlformats.org/drawingml/2006/main" prst="rect">
            <a:avLst/>
          </a:prstGeom>
        </p:spPr>
      </p:pic>
    </p:spTree>
    <p:extLst>
      <p:ext uri="{BB962C8B-B14F-4D97-AF65-F5344CB8AC3E}">
        <p14:creationId xmlns:p14="http://schemas.microsoft.com/office/powerpoint/2010/main" val="13559400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58EE914-6BB1-49BA-B4B2-EA6B4EE8846F}"/>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共同上調 pathways：21–40</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9cd83e46993441c3"/>
          <a:stretch xmlns:a="http://schemas.openxmlformats.org/drawingml/2006/main"/>
        </p:blipFill>
        <p:spPr>
          <a:xfrm xmlns:a="http://schemas.openxmlformats.org/drawingml/2006/main">
            <a:off x="902412" y="1057275"/>
            <a:ext cx="10387177" cy="5238750"/>
          </a:xfrm>
          <a:prstGeom xmlns:a="http://schemas.openxmlformats.org/drawingml/2006/main" prst="rect">
            <a:avLst/>
          </a:prstGeom>
        </p:spPr>
      </p:pic>
    </p:spTree>
    <p:extLst>
      <p:ext uri="{BB962C8B-B14F-4D97-AF65-F5344CB8AC3E}">
        <p14:creationId xmlns:p14="http://schemas.microsoft.com/office/powerpoint/2010/main" val="13831381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4199D9E-6897-45D2-A9DC-C2850187B5AD}"/>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Proteostasis 與 mitochondrial pathways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a5d96ac2d3354c0e"/>
          <a:stretch xmlns:a="http://schemas.openxmlformats.org/drawingml/2006/main"/>
        </p:blipFill>
        <p:spPr>
          <a:xfrm xmlns:a="http://schemas.openxmlformats.org/drawingml/2006/main">
            <a:off x="1266392" y="1409700"/>
            <a:ext cx="9659216" cy="4619625"/>
          </a:xfrm>
          <a:prstGeom xmlns:a="http://schemas.openxmlformats.org/drawingml/2006/main" prst="rect">
            <a:avLst/>
          </a:prstGeom>
        </p:spPr>
      </p:pic>
    </p:spTree>
    <p:extLst>
      <p:ext uri="{BB962C8B-B14F-4D97-AF65-F5344CB8AC3E}">
        <p14:creationId xmlns:p14="http://schemas.microsoft.com/office/powerpoint/2010/main" val="20659366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BD0057C-F54B-46F8-BF34-619885808879}"/>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三位病人的配對變化</a:t>
            </a:r>
          </a:p>
        </p:txBody>
      </p:sp>
      <p:sp>
        <p:nvSpPr>
          <p:cNvPr id="2" name="">
            <a:extLst xmlns:a="http://schemas.openxmlformats.org/drawingml/2006/main">
              <a:ext uri="{FF2B5EF4-FFF2-40B4-BE49-F238E27FC236}">
                <a16:creationId xmlns:a16="http://schemas.microsoft.com/office/drawing/2014/main" id="{EEEF9E7C-0C8B-4940-B4F2-F71A50714551}"/>
              </a:ext>
            </a:extLst>
          </p:cNvPr>
          <p:cNvSpPr>
            <a:spLocks xmlns:a="http://schemas.openxmlformats.org/drawingml/2006/main" noGrp="1"/>
          </p:cNvSpPr>
          <p:nvPr/>
        </p:nvSpPr>
        <p:spPr>
          <a:xfrm xmlns:a="http://schemas.openxmlformats.org/drawingml/2006/main">
            <a:off x="619125" y="10096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Microsoft JhengHei"/>
                <a:ea typeface="Microsoft JhengHei"/>
                <a:cs typeface="Microsoft JhengHei"/>
              </a:defRPr>
            </a:pPr>
            <a:r>
              <a:rPr sz="1875" b="0">
                <a:solidFill>
                  <a:srgbClr val="202020"/>
                </a:solidFill>
                <a:latin typeface="Microsoft JhengHei"/>
                <a:ea typeface="Microsoft JhengHei"/>
                <a:cs typeface="Microsoft JhengHei"/>
              </a:rPr>
              <a:t>GSEA leading-edge genes 的平均表達</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d71b062d35c4cee"/>
          <a:stretch xmlns:a="http://schemas.openxmlformats.org/drawingml/2006/main"/>
        </p:blipFill>
        <p:spPr>
          <a:xfrm xmlns:a="http://schemas.openxmlformats.org/drawingml/2006/main">
            <a:off x="2399489" y="1657350"/>
            <a:ext cx="7393021" cy="4572000"/>
          </a:xfrm>
          <a:prstGeom xmlns:a="http://schemas.openxmlformats.org/drawingml/2006/main" prst="rect">
            <a:avLst/>
          </a:prstGeom>
        </p:spPr>
      </p:pic>
    </p:spTree>
    <p:extLst>
      <p:ext uri="{BB962C8B-B14F-4D97-AF65-F5344CB8AC3E}">
        <p14:creationId xmlns:p14="http://schemas.microsoft.com/office/powerpoint/2010/main" val="160061284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374B46-FD46-4DE3-8564-598279174216}"/>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CNV cell selection</a:t>
            </a:r>
          </a:p>
        </p:txBody>
      </p:sp>
      <p:graphicFrame>
        <p:nvGraphicFramePr>
          <p:cNvPr id="6" name=""/>
          <p:cNvGraphicFramePr/>
          <p:nvPr/>
        </p:nvGraphicFramePr>
        <p:xfrm>
          <a:off xmlns:a="http://schemas.openxmlformats.org/drawingml/2006/main" x="571500" y="1543050"/>
          <a:ext xmlns:a="http://schemas.openxmlformats.org/drawingml/2006/main" cx="11049000" cy="2362200"/>
        </p:xfrm>
        <a:graphic xmlns:a="http://schemas.openxmlformats.org/drawingml/2006/main">
          <a:graphicData uri="http://schemas.openxmlformats.org/drawingml/2006/table">
            <a:tbl>
              <a:tblPr firstRow="1" bandRow="0"/>
              <a:tblGrid>
                <a:gridCol w="4286250"/>
                <a:gridCol w="4524375"/>
                <a:gridCol w="2238375"/>
              </a:tblGrid>
              <a:tr h="495300">
                <a:tc>
                  <a:txBody>
                    <a:bodyPr/>
                    <a:lstStyle/>
                    <a:p>
                      <a:r>
                        <a:rPr sz="1800" b="1">
                          <a:solidFill>
                            <a:srgbClr val="202020"/>
                          </a:solidFill>
                          <a:latin typeface="Microsoft JhengHei"/>
                          <a:ea typeface="Microsoft JhengHei"/>
                          <a:cs typeface="Microsoft JhengHei"/>
                        </a:rPr>
                        <a:t>選擇方式</a:t>
                      </a:r>
                    </a:p>
                  </a:txBody>
                  <a:tcPr marL="91440" marR="91440" marT="45720" marB="45720">
                    <a:solidFill>
                      <a:srgbClr val="F0F0F0"/>
                    </a:solidFill>
                  </a:tcPr>
                </a:tc>
                <a:tc>
                  <a:txBody>
                    <a:bodyPr/>
                    <a:lstStyle/>
                    <a:p>
                      <a:r>
                        <a:rPr sz="1800" b="1">
                          <a:solidFill>
                            <a:srgbClr val="202020"/>
                          </a:solidFill>
                          <a:latin typeface="Microsoft JhengHei"/>
                          <a:ea typeface="Microsoft JhengHei"/>
                          <a:cs typeface="Microsoft JhengHei"/>
                        </a:rPr>
                        <a:t>門檻</a:t>
                      </a:r>
                    </a:p>
                  </a:txBody>
                  <a:tcPr marL="91440" marR="91440" marT="45720" marB="45720">
                    <a:solidFill>
                      <a:srgbClr val="F0F0F0"/>
                    </a:solidFill>
                  </a:tcPr>
                </a:tc>
                <a:tc>
                  <a:txBody>
                    <a:bodyPr/>
                    <a:lstStyle/>
                    <a:p>
                      <a:r>
                        <a:rPr sz="1800" b="1">
                          <a:solidFill>
                            <a:srgbClr val="202020"/>
                          </a:solidFill>
                          <a:latin typeface="Microsoft JhengHei"/>
                          <a:ea typeface="Microsoft JhengHei"/>
                          <a:cs typeface="Microsoft JhengHei"/>
                        </a:rPr>
                        <a:t>保留細胞</a:t>
                      </a:r>
                    </a:p>
                  </a:txBody>
                  <a:tcPr marL="91440" marR="91440" marT="45720" marB="45720">
                    <a:solidFill>
                      <a:srgbClr val="F0F0F0"/>
                    </a:solidFill>
                  </a:tcPr>
                </a:tc>
              </a:tr>
              <a:tr h="933450">
                <a:tc>
                  <a:txBody>
                    <a:bodyPr/>
                    <a:lstStyle/>
                    <a:p>
                      <a:r>
                        <a:rPr sz="1800">
                          <a:solidFill>
                            <a:srgbClr val="202020"/>
                          </a:solidFill>
                          <a:latin typeface="Microsoft JhengHei"/>
                          <a:ea typeface="Microsoft JhengHei"/>
                          <a:cs typeface="Microsoft JhengHei"/>
                        </a:rPr>
                        <a:t>主分析：within-sample top 15%</a:t>
                      </a:r>
                    </a:p>
                  </a:txBody>
                  <a:tcPr marL="91440" marR="91440" marT="45720" marB="45720"/>
                </a:tc>
                <a:tc>
                  <a:txBody>
                    <a:bodyPr/>
                    <a:lstStyle/>
                    <a:p>
                      <a:r>
                        <a:rPr sz="1800">
                          <a:solidFill>
                            <a:srgbClr val="202020"/>
                          </a:solidFill>
                          <a:latin typeface="Microsoft JhengHei"/>
                          <a:ea typeface="Microsoft JhengHei"/>
                          <a:cs typeface="Microsoft JhengHei"/>
                        </a:rPr>
                        <a:t>各 sample 的 CNV 第 85 百分位</a:t>
                      </a:r>
                    </a:p>
                  </a:txBody>
                  <a:tcPr marL="91440" marR="91440" marT="45720" marB="45720"/>
                </a:tc>
                <a:tc>
                  <a:txBody>
                    <a:bodyPr/>
                    <a:lstStyle/>
                    <a:p>
                      <a:r>
                        <a:rPr sz="1800">
                          <a:solidFill>
                            <a:srgbClr val="202020"/>
                          </a:solidFill>
                          <a:latin typeface="Microsoft JhengHei"/>
                          <a:ea typeface="Microsoft JhengHei"/>
                          <a:cs typeface="Microsoft JhengHei"/>
                        </a:rPr>
                        <a:t>1,926</a:t>
                      </a:r>
                    </a:p>
                  </a:txBody>
                  <a:tcPr marL="91440" marR="91440" marT="45720" marB="45720"/>
                </a:tc>
              </a:tr>
              <a:tr h="933450">
                <a:tc>
                  <a:txBody>
                    <a:bodyPr/>
                    <a:lstStyle/>
                    <a:p>
                      <a:r>
                        <a:rPr sz="1800">
                          <a:solidFill>
                            <a:srgbClr val="202020"/>
                          </a:solidFill>
                          <a:latin typeface="Microsoft JhengHei"/>
                          <a:ea typeface="Microsoft JhengHei"/>
                          <a:cs typeface="Microsoft JhengHei"/>
                        </a:rPr>
                        <a:t>Non-T reference q95</a:t>
                      </a:r>
                    </a:p>
                  </a:txBody>
                  <a:tcPr marL="91440" marR="91440" marT="45720" marB="45720"/>
                </a:tc>
                <a:tc>
                  <a:txBody>
                    <a:bodyPr/>
                    <a:lstStyle/>
                    <a:p>
                      <a:r>
                        <a:rPr sz="1800">
                          <a:solidFill>
                            <a:srgbClr val="202020"/>
                          </a:solidFill>
                          <a:latin typeface="Microsoft JhengHei"/>
                          <a:ea typeface="Microsoft JhengHei"/>
                          <a:cs typeface="Microsoft JhengHei"/>
                        </a:rPr>
                        <a:t>共同 CNV score &gt; 0.0269</a:t>
                      </a:r>
                    </a:p>
                  </a:txBody>
                  <a:tcPr marL="91440" marR="91440" marT="45720" marB="45720"/>
                </a:tc>
                <a:tc>
                  <a:txBody>
                    <a:bodyPr/>
                    <a:lstStyle/>
                    <a:p>
                      <a:r>
                        <a:rPr sz="1800">
                          <a:solidFill>
                            <a:srgbClr val="202020"/>
                          </a:solidFill>
                          <a:latin typeface="Microsoft JhengHei"/>
                          <a:ea typeface="Microsoft JhengHei"/>
                          <a:cs typeface="Microsoft JhengHei"/>
                        </a:rPr>
                        <a:t>1,978</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7F3290F8-4BE6-4298-96FE-BD2BE0082C0E}"/>
              </a:ext>
            </a:extLst>
          </p:cNvPr>
          <p:cNvSpPr>
            <a:spLocks xmlns:a="http://schemas.openxmlformats.org/drawingml/2006/main" noGrp="1"/>
          </p:cNvSpPr>
          <p:nvPr/>
        </p:nvSpPr>
        <p:spPr>
          <a:xfrm xmlns:a="http://schemas.openxmlformats.org/drawingml/2006/main">
            <a:off x="619125" y="4343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020"/>
                </a:solidFill>
                <a:latin typeface="Microsoft JhengHei"/>
                <a:ea typeface="Microsoft JhengHei"/>
                <a:cs typeface="Microsoft JhengHei"/>
              </a:defRPr>
            </a:pPr>
            <a:r>
              <a:rPr sz="2100" b="0">
                <a:solidFill>
                  <a:srgbClr val="202020"/>
                </a:solidFill>
                <a:latin typeface="Microsoft JhengHei"/>
                <a:ea typeface="Microsoft JhengHei"/>
                <a:cs typeface="Microsoft JhengHei"/>
              </a:rPr>
              <a:t>兩種選法重疊 1,407 顆細胞</a:t>
            </a:r>
          </a:p>
        </p:txBody>
      </p:sp>
      <p:sp>
        <p:nvSpPr>
          <p:cNvPr id="4" name="">
            <a:extLst xmlns:a="http://schemas.openxmlformats.org/drawingml/2006/main">
              <a:ext uri="{FF2B5EF4-FFF2-40B4-BE49-F238E27FC236}">
                <a16:creationId xmlns:a16="http://schemas.microsoft.com/office/drawing/2014/main" id="{54C1AC56-8F06-435B-97B7-4E347CD0A6D9}"/>
              </a:ext>
            </a:extLst>
          </p:cNvPr>
          <p:cNvSpPr>
            <a:spLocks xmlns:a="http://schemas.openxmlformats.org/drawingml/2006/main" noGrp="1"/>
          </p:cNvSpPr>
          <p:nvPr/>
        </p:nvSpPr>
        <p:spPr>
          <a:xfrm xmlns:a="http://schemas.openxmlformats.org/drawingml/2006/main">
            <a:off x="619125" y="52768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020"/>
                </a:solidFill>
                <a:latin typeface="Microsoft JhengHei"/>
                <a:ea typeface="Microsoft JhengHei"/>
                <a:cs typeface="Microsoft JhengHei"/>
              </a:defRPr>
            </a:pPr>
            <a:r>
              <a:rPr sz="1800" b="0">
                <a:solidFill>
                  <a:srgbClr val="202020"/>
                </a:solidFill>
                <a:latin typeface="Microsoft JhengHei"/>
                <a:ea typeface="Microsoft JhengHei"/>
                <a:cs typeface="Microsoft JhengHei"/>
              </a:rPr>
              <a:t>Top 15% 為敏感度分析後選定的探索型主分析</a:t>
            </a:r>
          </a:p>
        </p:txBody>
      </p:sp>
    </p:spTree>
    <p:extLst>
      <p:ext uri="{BB962C8B-B14F-4D97-AF65-F5344CB8AC3E}">
        <p14:creationId xmlns:p14="http://schemas.microsoft.com/office/powerpoint/2010/main" val="8034672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00FFC1-C280-4522-ADC1-F9DA4C2C91D0}"/>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主要發現與後續問題</a:t>
            </a:r>
          </a:p>
        </p:txBody>
      </p:sp>
      <p:sp>
        <p:nvSpPr>
          <p:cNvPr id="2" name="">
            <a:extLst xmlns:a="http://schemas.openxmlformats.org/drawingml/2006/main">
              <a:ext uri="{FF2B5EF4-FFF2-40B4-BE49-F238E27FC236}">
                <a16:creationId xmlns:a16="http://schemas.microsoft.com/office/drawing/2014/main" id="{27225D2C-9018-4A78-9139-57060CE38263}"/>
              </a:ext>
            </a:extLst>
          </p:cNvPr>
          <p:cNvSpPr>
            <a:spLocks xmlns:a="http://schemas.openxmlformats.org/drawingml/2006/main" noGrp="1"/>
          </p:cNvSpPr>
          <p:nvPr/>
        </p:nvSpPr>
        <p:spPr>
          <a:xfrm xmlns:a="http://schemas.openxmlformats.org/drawingml/2006/main">
            <a:off x="619125" y="14097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Microsoft JhengHei"/>
                <a:ea typeface="Microsoft JhengHei"/>
                <a:cs typeface="Microsoft JhengHei"/>
              </a:defRPr>
            </a:pPr>
            <a:r>
              <a:rPr sz="2100" b="1">
                <a:solidFill>
                  <a:srgbClr val="202020"/>
                </a:solidFill>
                <a:latin typeface="Microsoft JhengHei"/>
                <a:ea typeface="Microsoft JhengHei"/>
                <a:cs typeface="Microsoft JhengHei"/>
              </a:rPr>
              <a:t>共同上調</a:t>
            </a:r>
          </a:p>
        </p:txBody>
      </p:sp>
      <p:sp>
        <p:nvSpPr>
          <p:cNvPr id="3" name="">
            <a:extLst xmlns:a="http://schemas.openxmlformats.org/drawingml/2006/main">
              <a:ext uri="{FF2B5EF4-FFF2-40B4-BE49-F238E27FC236}">
                <a16:creationId xmlns:a16="http://schemas.microsoft.com/office/drawing/2014/main" id="{34C47398-F45C-402C-B6E5-F51F6A918EB3}"/>
              </a:ext>
            </a:extLst>
          </p:cNvPr>
          <p:cNvSpPr>
            <a:spLocks xmlns:a="http://schemas.openxmlformats.org/drawingml/2006/main" noGrp="1"/>
          </p:cNvSpPr>
          <p:nvPr/>
        </p:nvSpPr>
        <p:spPr>
          <a:xfrm xmlns:a="http://schemas.openxmlformats.org/drawingml/2006/main">
            <a:off x="619125" y="21145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020"/>
                </a:solidFill>
                <a:latin typeface="Microsoft JhengHei"/>
                <a:ea typeface="Microsoft JhengHei"/>
                <a:cs typeface="Microsoft JhengHei"/>
              </a:defRPr>
            </a:pPr>
            <a:r>
              <a:rPr sz="2100" b="0">
                <a:solidFill>
                  <a:srgbClr val="202020"/>
                </a:solidFill>
                <a:latin typeface="Microsoft JhengHei"/>
                <a:ea typeface="Microsoft JhengHei"/>
                <a:cs typeface="Microsoft JhengHei"/>
              </a:rPr>
              <a:t>Oxidative phosphorylation、ribosome、proteasome、mitophagy</a:t>
            </a:r>
          </a:p>
        </p:txBody>
      </p:sp>
      <p:sp>
        <p:nvSpPr>
          <p:cNvPr id="4" name="">
            <a:extLst xmlns:a="http://schemas.openxmlformats.org/drawingml/2006/main">
              <a:ext uri="{FF2B5EF4-FFF2-40B4-BE49-F238E27FC236}">
                <a16:creationId xmlns:a16="http://schemas.microsoft.com/office/drawing/2014/main" id="{A4DFB382-2126-4880-B5FE-E352E04C8185}"/>
              </a:ext>
            </a:extLst>
          </p:cNvPr>
          <p:cNvSpPr>
            <a:spLocks xmlns:a="http://schemas.openxmlformats.org/drawingml/2006/main" noGrp="1"/>
          </p:cNvSpPr>
          <p:nvPr/>
        </p:nvSpPr>
        <p:spPr>
          <a:xfrm xmlns:a="http://schemas.openxmlformats.org/drawingml/2006/main">
            <a:off x="619125" y="32956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020"/>
                </a:solidFill>
                <a:latin typeface="Microsoft JhengHei"/>
                <a:ea typeface="Microsoft JhengHei"/>
                <a:cs typeface="Microsoft JhengHei"/>
              </a:defRPr>
            </a:pPr>
            <a:r>
              <a:rPr sz="2100" b="1">
                <a:solidFill>
                  <a:srgbClr val="202020"/>
                </a:solidFill>
                <a:latin typeface="Microsoft JhengHei"/>
                <a:ea typeface="Microsoft JhengHei"/>
                <a:cs typeface="Microsoft JhengHei"/>
              </a:rPr>
              <a:t>研究假說</a:t>
            </a:r>
          </a:p>
        </p:txBody>
      </p:sp>
      <p:sp>
        <p:nvSpPr>
          <p:cNvPr id="5" name="">
            <a:extLst xmlns:a="http://schemas.openxmlformats.org/drawingml/2006/main">
              <a:ext uri="{FF2B5EF4-FFF2-40B4-BE49-F238E27FC236}">
                <a16:creationId xmlns:a16="http://schemas.microsoft.com/office/drawing/2014/main" id="{D61025A2-3471-46BB-85DC-DD8492DEC45A}"/>
              </a:ext>
            </a:extLst>
          </p:cNvPr>
          <p:cNvSpPr>
            <a:spLocks xmlns:a="http://schemas.openxmlformats.org/drawingml/2006/main" noGrp="1"/>
          </p:cNvSpPr>
          <p:nvPr/>
        </p:nvSpPr>
        <p:spPr>
          <a:xfrm xmlns:a="http://schemas.openxmlformats.org/drawingml/2006/main">
            <a:off x="619125" y="40005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020"/>
                </a:solidFill>
                <a:latin typeface="Microsoft JhengHei"/>
                <a:ea typeface="Microsoft JhengHei"/>
                <a:cs typeface="Microsoft JhengHei"/>
              </a:defRPr>
            </a:pPr>
            <a:r>
              <a:rPr sz="2100" b="0">
                <a:solidFill>
                  <a:srgbClr val="202020"/>
                </a:solidFill>
                <a:latin typeface="Microsoft JhengHei"/>
                <a:ea typeface="Microsoft JhengHei"/>
                <a:cs typeface="Microsoft JhengHei"/>
              </a:rPr>
              <a:t>STAT5B 活化與粒線體及蛋白質品質控制相關</a:t>
            </a:r>
          </a:p>
        </p:txBody>
      </p:sp>
      <p:sp>
        <p:nvSpPr>
          <p:cNvPr id="6" name="">
            <a:extLst xmlns:a="http://schemas.openxmlformats.org/drawingml/2006/main">
              <a:ext uri="{FF2B5EF4-FFF2-40B4-BE49-F238E27FC236}">
                <a16:creationId xmlns:a16="http://schemas.microsoft.com/office/drawing/2014/main" id="{A1EF12A0-ED72-4843-A223-9BDD29FE04AD}"/>
              </a:ext>
            </a:extLst>
          </p:cNvPr>
          <p:cNvSpPr>
            <a:spLocks xmlns:a="http://schemas.openxmlformats.org/drawingml/2006/main" noGrp="1"/>
          </p:cNvSpPr>
          <p:nvPr/>
        </p:nvSpPr>
        <p:spPr>
          <a:xfrm xmlns:a="http://schemas.openxmlformats.org/drawingml/2006/main">
            <a:off x="619125" y="5438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020"/>
                </a:solidFill>
                <a:latin typeface="Microsoft JhengHei"/>
                <a:ea typeface="Microsoft JhengHei"/>
                <a:cs typeface="Microsoft JhengHei"/>
              </a:defRPr>
            </a:pPr>
            <a:r>
              <a:rPr sz="1875" b="0">
                <a:solidFill>
                  <a:srgbClr val="202020"/>
                </a:solidFill>
                <a:latin typeface="Microsoft JhengHei"/>
                <a:ea typeface="Microsoft JhengHei"/>
                <a:cs typeface="Microsoft JhengHei"/>
              </a:rPr>
              <a:t>後續驗證：mitophagy flux、proteasome 活性與 BTZ 反應</a:t>
            </a:r>
          </a:p>
        </p:txBody>
      </p:sp>
    </p:spTree>
    <p:extLst>
      <p:ext uri="{BB962C8B-B14F-4D97-AF65-F5344CB8AC3E}">
        <p14:creationId xmlns:p14="http://schemas.microsoft.com/office/powerpoint/2010/main" val="2642839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23C5558-DFB0-40C5-BB04-C12827027083}"/>
              </a:ext>
            </a:extLst>
          </p:cNvPr>
          <p:cNvSpPr>
            <a:spLocks xmlns:a="http://schemas.openxmlformats.org/drawingml/2006/main" noGrp="1"/>
          </p:cNvSpPr>
          <p:nvPr/>
        </p:nvSpPr>
        <p:spPr>
          <a:xfrm xmlns:a="http://schemas.openxmlformats.org/drawingml/2006/main">
            <a:off x="523875" y="3333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020"/>
                </a:solidFill>
                <a:latin typeface="Microsoft JhengHei"/>
                <a:ea typeface="Microsoft JhengHei"/>
                <a:cs typeface="Microsoft JhengHei"/>
              </a:defRPr>
            </a:pPr>
            <a:r>
              <a:rPr sz="2550" b="1">
                <a:solidFill>
                  <a:srgbClr val="202020"/>
                </a:solidFill>
                <a:latin typeface="Microsoft JhengHei"/>
                <a:ea typeface="Microsoft JhengHei"/>
                <a:cs typeface="Microsoft JhengHei"/>
              </a:rPr>
              <a:t>交接與 code availability</a:t>
            </a:r>
          </a:p>
        </p:txBody>
      </p:sp>
      <p:graphicFrame>
        <p:nvGraphicFramePr>
          <p:cNvPr id="5" name=""/>
          <p:cNvGraphicFramePr/>
          <p:nvPr/>
        </p:nvGraphicFramePr>
        <p:xfrm>
          <a:off xmlns:a="http://schemas.openxmlformats.org/drawingml/2006/main" x="571500" y="1400175"/>
          <a:ext xmlns:a="http://schemas.openxmlformats.org/drawingml/2006/main" cx="11049000" cy="3238500"/>
        </p:xfrm>
        <a:graphic xmlns:a="http://schemas.openxmlformats.org/drawingml/2006/main">
          <a:graphicData uri="http://schemas.openxmlformats.org/drawingml/2006/table">
            <a:tbl>
              <a:tblPr firstRow="1" bandRow="0"/>
              <a:tblGrid>
                <a:gridCol w="3286125"/>
                <a:gridCol w="7762875"/>
              </a:tblGrid>
              <a:tr h="495300">
                <a:tc>
                  <a:txBody>
                    <a:bodyPr/>
                    <a:lstStyle/>
                    <a:p>
                      <a:r>
                        <a:rPr sz="1800" b="1">
                          <a:solidFill>
                            <a:srgbClr val="202020"/>
                          </a:solidFill>
                          <a:latin typeface="Microsoft JhengHei"/>
                          <a:ea typeface="Microsoft JhengHei"/>
                          <a:cs typeface="Microsoft JhengHei"/>
                        </a:rPr>
                        <a:t>內容</a:t>
                      </a:r>
                    </a:p>
                  </a:txBody>
                  <a:tcPr marL="91440" marR="91440" marT="45720" marB="45720">
                    <a:solidFill>
                      <a:srgbClr val="F0F0F0"/>
                    </a:solidFill>
                  </a:tcPr>
                </a:tc>
                <a:tc>
                  <a:txBody>
                    <a:bodyPr/>
                    <a:lstStyle/>
                    <a:p>
                      <a:r>
                        <a:rPr sz="1800" b="1">
                          <a:solidFill>
                            <a:srgbClr val="202020"/>
                          </a:solidFill>
                          <a:latin typeface="Microsoft JhengHei"/>
                          <a:ea typeface="Microsoft JhengHei"/>
                          <a:cs typeface="Microsoft JhengHei"/>
                        </a:rPr>
                        <a:t>位置</a:t>
                      </a:r>
                    </a:p>
                  </a:txBody>
                  <a:tcPr marL="91440" marR="91440" marT="45720" marB="45720">
                    <a:solidFill>
                      <a:srgbClr val="F0F0F0"/>
                    </a:solidFill>
                  </a:tcPr>
                </a:tc>
              </a:tr>
              <a:tr h="685800">
                <a:tc>
                  <a:txBody>
                    <a:bodyPr/>
                    <a:lstStyle/>
                    <a:p>
                      <a:r>
                        <a:rPr sz="1800">
                          <a:solidFill>
                            <a:srgbClr val="202020"/>
                          </a:solidFill>
                          <a:latin typeface="Microsoft JhengHei"/>
                          <a:ea typeface="Microsoft JhengHei"/>
                          <a:cs typeface="Microsoft JhengHei"/>
                        </a:rPr>
                        <a:t>精簡交接包</a:t>
                      </a:r>
                    </a:p>
                  </a:txBody>
                  <a:tcPr marL="91440" marR="91440" marT="45720" marB="45720"/>
                </a:tc>
                <a:tc>
                  <a:txBody>
                    <a:bodyPr/>
                    <a:lstStyle/>
                    <a:p>
                      <a:r>
                        <a:rPr sz="1800">
                          <a:solidFill>
                            <a:srgbClr val="202020"/>
                          </a:solidFill>
                          <a:latin typeface="Microsoft JhengHei"/>
                          <a:ea typeface="Microsoft JhengHei"/>
                          <a:cs typeface="Microsoft JhengHei"/>
                        </a:rPr>
                        <a:t>00_Quick_Start：PPT、5 張圖、3 個 CSV</a:t>
                      </a:r>
                    </a:p>
                  </a:txBody>
                  <a:tcPr marL="91440" marR="91440" marT="45720" marB="45720"/>
                </a:tc>
              </a:tr>
              <a:tr h="685800">
                <a:tc>
                  <a:txBody>
                    <a:bodyPr/>
                    <a:lstStyle/>
                    <a:p>
                      <a:r>
                        <a:rPr sz="1800">
                          <a:solidFill>
                            <a:srgbClr val="202020"/>
                          </a:solidFill>
                          <a:latin typeface="Microsoft JhengHei"/>
                          <a:ea typeface="Microsoft JhengHei"/>
                          <a:cs typeface="Microsoft JhengHei"/>
                        </a:rPr>
                        <a:t>完整圖表與方法</a:t>
                      </a:r>
                    </a:p>
                  </a:txBody>
                  <a:tcPr marL="91440" marR="91440" marT="45720" marB="45720"/>
                </a:tc>
                <a:tc>
                  <a:txBody>
                    <a:bodyPr/>
                    <a:lstStyle/>
                    <a:p>
                      <a:r>
                        <a:rPr sz="1800">
                          <a:solidFill>
                            <a:srgbClr val="202020"/>
                          </a:solidFill>
                          <a:latin typeface="Microsoft JhengHei"/>
                          <a:ea typeface="Microsoft JhengHei"/>
                          <a:cs typeface="Microsoft JhengHei"/>
                        </a:rPr>
                        <a:t>07_Student_Handoff</a:t>
                      </a:r>
                    </a:p>
                  </a:txBody>
                  <a:tcPr marL="91440" marR="91440" marT="45720" marB="45720"/>
                </a:tc>
              </a:tr>
              <a:tr h="685800">
                <a:tc>
                  <a:txBody>
                    <a:bodyPr/>
                    <a:lstStyle/>
                    <a:p>
                      <a:r>
                        <a:rPr sz="1800">
                          <a:solidFill>
                            <a:srgbClr val="202020"/>
                          </a:solidFill>
                          <a:latin typeface="Microsoft JhengHei"/>
                          <a:ea typeface="Microsoft JhengHei"/>
                          <a:cs typeface="Microsoft JhengHei"/>
                        </a:rPr>
                        <a:t>分析程式</a:t>
                      </a:r>
                    </a:p>
                  </a:txBody>
                  <a:tcPr marL="91440" marR="91440" marT="45720" marB="45720"/>
                </a:tc>
                <a:tc>
                  <a:txBody>
                    <a:bodyPr/>
                    <a:lstStyle/>
                    <a:p>
                      <a:r>
                        <a:rPr sz="1800">
                          <a:solidFill>
                            <a:srgbClr val="202020"/>
                          </a:solidFill>
                          <a:latin typeface="Microsoft JhengHei"/>
                          <a:ea typeface="Microsoft JhengHei"/>
                          <a:cs typeface="Microsoft JhengHei"/>
                        </a:rPr>
                        <a:t>05_Code_Availability：R scripts 22–27</a:t>
                      </a:r>
                    </a:p>
                  </a:txBody>
                  <a:tcPr marL="91440" marR="91440" marT="45720" marB="45720"/>
                </a:tc>
              </a:tr>
              <a:tr h="685800">
                <a:tc>
                  <a:txBody>
                    <a:bodyPr/>
                    <a:lstStyle/>
                    <a:p>
                      <a:r>
                        <a:rPr sz="1800">
                          <a:solidFill>
                            <a:srgbClr val="202020"/>
                          </a:solidFill>
                          <a:latin typeface="Microsoft JhengHei"/>
                          <a:ea typeface="Microsoft JhengHei"/>
                          <a:cs typeface="Microsoft JhengHei"/>
                        </a:rPr>
                        <a:t>Raw data / R objects</a:t>
                      </a:r>
                    </a:p>
                  </a:txBody>
                  <a:tcPr marL="91440" marR="91440" marT="45720" marB="45720"/>
                </a:tc>
                <a:tc>
                  <a:txBody>
                    <a:bodyPr/>
                    <a:lstStyle/>
                    <a:p>
                      <a:r>
                        <a:rPr sz="1800">
                          <a:solidFill>
                            <a:srgbClr val="202020"/>
                          </a:solidFill>
                          <a:latin typeface="Microsoft JhengHei"/>
                          <a:ea typeface="Microsoft JhengHei"/>
                          <a:cs typeface="Microsoft JhengHei"/>
                        </a:rPr>
                        <a:t>DATA_AND_OBJECT_LOCATIONS.txt</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AB359E03-049E-4682-9526-C1E3CE8433AA}"/>
              </a:ext>
            </a:extLst>
          </p:cNvPr>
          <p:cNvSpPr>
            <a:spLocks xmlns:a="http://schemas.openxmlformats.org/drawingml/2006/main" noGrp="1"/>
          </p:cNvSpPr>
          <p:nvPr/>
        </p:nvSpPr>
        <p:spPr>
          <a:xfrm xmlns:a="http://schemas.openxmlformats.org/drawingml/2006/main">
            <a:off x="619125" y="5381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020"/>
                </a:solidFill>
                <a:latin typeface="Microsoft JhengHei"/>
                <a:ea typeface="Microsoft JhengHei"/>
                <a:cs typeface="Microsoft JhengHei"/>
              </a:defRPr>
            </a:pPr>
            <a:r>
              <a:rPr sz="1725" b="0">
                <a:solidFill>
                  <a:srgbClr val="202020"/>
                </a:solidFill>
                <a:latin typeface="Microsoft JhengHei"/>
                <a:ea typeface="Microsoft JhengHei"/>
                <a:cs typeface="Microsoft JhengHei"/>
              </a:rPr>
              <a:t>github.com/brianchiuyulab/hematologic-malignancy-transcriptomics</a:t>
            </a:r>
          </a:p>
        </p:txBody>
      </p:sp>
    </p:spTree>
    <p:extLst>
      <p:ext uri="{BB962C8B-B14F-4D97-AF65-F5344CB8AC3E}">
        <p14:creationId xmlns:p14="http://schemas.microsoft.com/office/powerpoint/2010/main" val="20202333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2026-09-15T10:52:18.6410000Z</dcterms:created>
  <dcterms:modified xsi:type="dcterms:W3CDTF">2026-09-15T10:52:18.6410000Z</dcterms:modified>
</coreProperties>
</file>